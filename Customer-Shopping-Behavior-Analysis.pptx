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8.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slideLayout" Target="../slideLayouts/slideLayout1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28624"/>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FFF8F5"/>
                </a:solidFill>
                <a:latin typeface="Noto Serif HK Bold" pitchFamily="34" charset="0"/>
                <a:ea typeface="Noto Serif HK Bold" pitchFamily="34" charset="-122"/>
                <a:cs typeface="Noto Serif HK Bold" pitchFamily="34" charset="-120"/>
              </a:rPr>
              <a:t>Customer Shopping Behavior Analysis</a:t>
            </a:r>
            <a:endParaRPr lang="en-US" sz="4450" dirty="0"/>
          </a:p>
        </p:txBody>
      </p:sp>
      <p:sp>
        <p:nvSpPr>
          <p:cNvPr id="4" name="Text 1"/>
          <p:cNvSpPr/>
          <p:nvPr/>
        </p:nvSpPr>
        <p:spPr>
          <a:xfrm>
            <a:off x="6280190" y="4086344"/>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This project analyzes customer shopping behavior using transactional data from 3,900 purchases. Our goal is to uncover insights into spending patterns, customer segments, product preferences, and subscription behavior to guide strategic business decisions.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52732"/>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FF8F5"/>
                </a:solidFill>
                <a:latin typeface="Noto Serif HK Bold" pitchFamily="34" charset="0"/>
                <a:ea typeface="Noto Serif HK Bold" pitchFamily="34" charset="-122"/>
                <a:cs typeface="Noto Serif HK Bold" pitchFamily="34" charset="-120"/>
              </a:rPr>
              <a:t>Dataset Summary</a:t>
            </a:r>
            <a:endParaRPr lang="en-US" sz="4450" dirty="0"/>
          </a:p>
        </p:txBody>
      </p:sp>
      <p:sp>
        <p:nvSpPr>
          <p:cNvPr id="3" name="Shape 1"/>
          <p:cNvSpPr/>
          <p:nvPr/>
        </p:nvSpPr>
        <p:spPr>
          <a:xfrm>
            <a:off x="793790" y="3355300"/>
            <a:ext cx="4196358" cy="2040493"/>
          </a:xfrm>
          <a:prstGeom prst="roundRect">
            <a:avLst>
              <a:gd name="adj" fmla="val 7170"/>
            </a:avLst>
          </a:prstGeom>
          <a:solidFill>
            <a:srgbClr val="403234"/>
          </a:solidFill>
          <a:ln/>
        </p:spPr>
      </p:sp>
      <p:sp>
        <p:nvSpPr>
          <p:cNvPr id="4" name="Shape 2"/>
          <p:cNvSpPr/>
          <p:nvPr/>
        </p:nvSpPr>
        <p:spPr>
          <a:xfrm>
            <a:off x="793790" y="3324820"/>
            <a:ext cx="4196358" cy="121920"/>
          </a:xfrm>
          <a:prstGeom prst="roundRect">
            <a:avLst>
              <a:gd name="adj" fmla="val 27907"/>
            </a:avLst>
          </a:prstGeom>
          <a:solidFill>
            <a:srgbClr val="E2C2B3"/>
          </a:solidFill>
          <a:ln/>
        </p:spPr>
      </p:sp>
      <p:sp>
        <p:nvSpPr>
          <p:cNvPr id="5" name="Shape 3"/>
          <p:cNvSpPr/>
          <p:nvPr/>
        </p:nvSpPr>
        <p:spPr>
          <a:xfrm>
            <a:off x="2551688" y="3015139"/>
            <a:ext cx="680442" cy="680442"/>
          </a:xfrm>
          <a:prstGeom prst="roundRect">
            <a:avLst>
              <a:gd name="adj" fmla="val 134383"/>
            </a:avLst>
          </a:prstGeom>
          <a:solidFill>
            <a:srgbClr val="E2C2B3"/>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55761" y="3219212"/>
            <a:ext cx="272177" cy="272177"/>
          </a:xfrm>
          <a:prstGeom prst="rect">
            <a:avLst/>
          </a:prstGeom>
        </p:spPr>
      </p:pic>
      <p:sp>
        <p:nvSpPr>
          <p:cNvPr id="7" name="Text 4"/>
          <p:cNvSpPr/>
          <p:nvPr/>
        </p:nvSpPr>
        <p:spPr>
          <a:xfrm>
            <a:off x="1051084" y="392227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Rows: 3,900</a:t>
            </a:r>
            <a:endParaRPr lang="en-US" sz="2200" dirty="0"/>
          </a:p>
        </p:txBody>
      </p:sp>
      <p:sp>
        <p:nvSpPr>
          <p:cNvPr id="8" name="Text 5"/>
          <p:cNvSpPr/>
          <p:nvPr/>
        </p:nvSpPr>
        <p:spPr>
          <a:xfrm>
            <a:off x="1051084" y="4412694"/>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Comprehensive transactional data.</a:t>
            </a:r>
            <a:endParaRPr lang="en-US" sz="1750" dirty="0"/>
          </a:p>
        </p:txBody>
      </p:sp>
      <p:sp>
        <p:nvSpPr>
          <p:cNvPr id="9" name="Shape 6"/>
          <p:cNvSpPr/>
          <p:nvPr/>
        </p:nvSpPr>
        <p:spPr>
          <a:xfrm>
            <a:off x="5216962" y="3355300"/>
            <a:ext cx="4196358" cy="2040493"/>
          </a:xfrm>
          <a:prstGeom prst="roundRect">
            <a:avLst>
              <a:gd name="adj" fmla="val 7170"/>
            </a:avLst>
          </a:prstGeom>
          <a:solidFill>
            <a:srgbClr val="403234"/>
          </a:solidFill>
          <a:ln/>
        </p:spPr>
      </p:sp>
      <p:sp>
        <p:nvSpPr>
          <p:cNvPr id="10" name="Shape 7"/>
          <p:cNvSpPr/>
          <p:nvPr/>
        </p:nvSpPr>
        <p:spPr>
          <a:xfrm>
            <a:off x="5216962" y="3324820"/>
            <a:ext cx="4196358" cy="121920"/>
          </a:xfrm>
          <a:prstGeom prst="roundRect">
            <a:avLst>
              <a:gd name="adj" fmla="val 27907"/>
            </a:avLst>
          </a:prstGeom>
          <a:solidFill>
            <a:srgbClr val="E2C2B3"/>
          </a:solidFill>
          <a:ln/>
        </p:spPr>
      </p:sp>
      <p:sp>
        <p:nvSpPr>
          <p:cNvPr id="11" name="Shape 8"/>
          <p:cNvSpPr/>
          <p:nvPr/>
        </p:nvSpPr>
        <p:spPr>
          <a:xfrm>
            <a:off x="6974860" y="3015139"/>
            <a:ext cx="680442" cy="680442"/>
          </a:xfrm>
          <a:prstGeom prst="roundRect">
            <a:avLst>
              <a:gd name="adj" fmla="val 134383"/>
            </a:avLst>
          </a:prstGeom>
          <a:solidFill>
            <a:srgbClr val="E2C2B3"/>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8933" y="3219212"/>
            <a:ext cx="272177" cy="272177"/>
          </a:xfrm>
          <a:prstGeom prst="rect">
            <a:avLst/>
          </a:prstGeom>
        </p:spPr>
      </p:pic>
      <p:sp>
        <p:nvSpPr>
          <p:cNvPr id="13" name="Text 9"/>
          <p:cNvSpPr/>
          <p:nvPr/>
        </p:nvSpPr>
        <p:spPr>
          <a:xfrm>
            <a:off x="5474256" y="392227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Columns: 18</a:t>
            </a:r>
            <a:endParaRPr lang="en-US" sz="2200" dirty="0"/>
          </a:p>
        </p:txBody>
      </p:sp>
      <p:sp>
        <p:nvSpPr>
          <p:cNvPr id="14" name="Text 10"/>
          <p:cNvSpPr/>
          <p:nvPr/>
        </p:nvSpPr>
        <p:spPr>
          <a:xfrm>
            <a:off x="5474256" y="4412694"/>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Rich details from demographics to purchase specifics.</a:t>
            </a:r>
            <a:endParaRPr lang="en-US" sz="1750" dirty="0"/>
          </a:p>
        </p:txBody>
      </p:sp>
      <p:sp>
        <p:nvSpPr>
          <p:cNvPr id="15" name="Shape 11"/>
          <p:cNvSpPr/>
          <p:nvPr/>
        </p:nvSpPr>
        <p:spPr>
          <a:xfrm>
            <a:off x="9640133" y="3355300"/>
            <a:ext cx="4196358" cy="2040493"/>
          </a:xfrm>
          <a:prstGeom prst="roundRect">
            <a:avLst>
              <a:gd name="adj" fmla="val 7170"/>
            </a:avLst>
          </a:prstGeom>
          <a:solidFill>
            <a:srgbClr val="403234"/>
          </a:solidFill>
          <a:ln/>
        </p:spPr>
      </p:sp>
      <p:sp>
        <p:nvSpPr>
          <p:cNvPr id="16" name="Shape 12"/>
          <p:cNvSpPr/>
          <p:nvPr/>
        </p:nvSpPr>
        <p:spPr>
          <a:xfrm>
            <a:off x="9640133" y="3324820"/>
            <a:ext cx="4196358" cy="121920"/>
          </a:xfrm>
          <a:prstGeom prst="roundRect">
            <a:avLst>
              <a:gd name="adj" fmla="val 27907"/>
            </a:avLst>
          </a:prstGeom>
          <a:solidFill>
            <a:srgbClr val="E2C2B3"/>
          </a:solidFill>
          <a:ln/>
        </p:spPr>
      </p:sp>
      <p:sp>
        <p:nvSpPr>
          <p:cNvPr id="17" name="Shape 13"/>
          <p:cNvSpPr/>
          <p:nvPr/>
        </p:nvSpPr>
        <p:spPr>
          <a:xfrm>
            <a:off x="11398032" y="3015139"/>
            <a:ext cx="680442" cy="680442"/>
          </a:xfrm>
          <a:prstGeom prst="roundRect">
            <a:avLst>
              <a:gd name="adj" fmla="val 134383"/>
            </a:avLst>
          </a:prstGeom>
          <a:solidFill>
            <a:srgbClr val="E2C2B3"/>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02105" y="3219212"/>
            <a:ext cx="272177" cy="272177"/>
          </a:xfrm>
          <a:prstGeom prst="rect">
            <a:avLst/>
          </a:prstGeom>
        </p:spPr>
      </p:pic>
      <p:sp>
        <p:nvSpPr>
          <p:cNvPr id="19" name="Text 14"/>
          <p:cNvSpPr/>
          <p:nvPr/>
        </p:nvSpPr>
        <p:spPr>
          <a:xfrm>
            <a:off x="9897427" y="3922276"/>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Missing Data</a:t>
            </a:r>
            <a:endParaRPr lang="en-US" sz="2200" dirty="0"/>
          </a:p>
        </p:txBody>
      </p:sp>
      <p:sp>
        <p:nvSpPr>
          <p:cNvPr id="20" name="Text 15"/>
          <p:cNvSpPr/>
          <p:nvPr/>
        </p:nvSpPr>
        <p:spPr>
          <a:xfrm>
            <a:off x="9897427" y="4412694"/>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37 values in Review Rating column.</a:t>
            </a:r>
            <a:endParaRPr lang="en-US" sz="1750" dirty="0"/>
          </a:p>
        </p:txBody>
      </p:sp>
      <p:sp>
        <p:nvSpPr>
          <p:cNvPr id="21" name="Text 16"/>
          <p:cNvSpPr/>
          <p:nvPr/>
        </p:nvSpPr>
        <p:spPr>
          <a:xfrm>
            <a:off x="793790" y="565094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Key features include customer demographics, purchase details (item, category, amount, season, size, color), and shopping behavior (discounts, promo codes, previous purchases, frequency, review rating, shipping type).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02218"/>
          </a:xfrm>
          <a:prstGeom prst="rect">
            <a:avLst/>
          </a:prstGeom>
        </p:spPr>
      </p:pic>
      <p:sp>
        <p:nvSpPr>
          <p:cNvPr id="3" name="Text 0"/>
          <p:cNvSpPr/>
          <p:nvPr/>
        </p:nvSpPr>
        <p:spPr>
          <a:xfrm>
            <a:off x="700564" y="3399592"/>
            <a:ext cx="8935403" cy="625435"/>
          </a:xfrm>
          <a:prstGeom prst="rect">
            <a:avLst/>
          </a:prstGeom>
          <a:noFill/>
          <a:ln/>
        </p:spPr>
        <p:txBody>
          <a:bodyPr wrap="none" lIns="0" tIns="0" rIns="0" bIns="0" rtlCol="0" anchor="t"/>
          <a:lstStyle/>
          <a:p>
            <a:pPr algn="l" indent="0" marL="0">
              <a:lnSpc>
                <a:spcPts val="4900"/>
              </a:lnSpc>
              <a:buNone/>
            </a:pPr>
            <a:r>
              <a:rPr lang="en-US" sz="3900" b="1" dirty="0">
                <a:solidFill>
                  <a:srgbClr val="FFF8F5"/>
                </a:solidFill>
                <a:latin typeface="Noto Serif HK Bold" pitchFamily="34" charset="0"/>
                <a:ea typeface="Noto Serif HK Bold" pitchFamily="34" charset="-122"/>
                <a:cs typeface="Noto Serif HK Bold" pitchFamily="34" charset="-120"/>
              </a:rPr>
              <a:t>Exploratory Data Analysis (Python)</a:t>
            </a:r>
            <a:endParaRPr lang="en-US" sz="3900" dirty="0"/>
          </a:p>
        </p:txBody>
      </p:sp>
      <p:sp>
        <p:nvSpPr>
          <p:cNvPr id="4" name="Text 1"/>
          <p:cNvSpPr/>
          <p:nvPr/>
        </p:nvSpPr>
        <p:spPr>
          <a:xfrm>
            <a:off x="700564" y="4525328"/>
            <a:ext cx="2502218" cy="312777"/>
          </a:xfrm>
          <a:prstGeom prst="rect">
            <a:avLst/>
          </a:prstGeom>
          <a:noFill/>
          <a:ln/>
        </p:spPr>
        <p:txBody>
          <a:bodyPr wrap="none" lIns="0" tIns="0" rIns="0" bIns="0" rtlCol="0" anchor="t"/>
          <a:lstStyle/>
          <a:p>
            <a:pPr algn="l" indent="0" marL="0">
              <a:lnSpc>
                <a:spcPts val="2450"/>
              </a:lnSpc>
              <a:buNone/>
            </a:pPr>
            <a:r>
              <a:rPr lang="en-US" sz="1950" b="1" dirty="0">
                <a:solidFill>
                  <a:srgbClr val="FFF8F5"/>
                </a:solidFill>
                <a:latin typeface="Noto Serif HK Bold" pitchFamily="34" charset="0"/>
                <a:ea typeface="Noto Serif HK Bold" pitchFamily="34" charset="-122"/>
                <a:cs typeface="Noto Serif HK Bold" pitchFamily="34" charset="-120"/>
              </a:rPr>
              <a:t>Data Preparation</a:t>
            </a:r>
            <a:endParaRPr lang="en-US" sz="1950" dirty="0"/>
          </a:p>
        </p:txBody>
      </p:sp>
      <p:sp>
        <p:nvSpPr>
          <p:cNvPr id="5" name="Text 2"/>
          <p:cNvSpPr/>
          <p:nvPr/>
        </p:nvSpPr>
        <p:spPr>
          <a:xfrm>
            <a:off x="700564" y="5038249"/>
            <a:ext cx="6370439" cy="327779"/>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Data Loading:</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Imported dataset using </a:t>
            </a:r>
            <a:pPr algn="l" indent="0" marL="0">
              <a:lnSpc>
                <a:spcPts val="2500"/>
              </a:lnSpc>
              <a:buNone/>
            </a:pPr>
            <a:r>
              <a:rPr lang="en-US" sz="1550" dirty="0">
                <a:solidFill>
                  <a:srgbClr val="D3C9C5"/>
                </a:solidFill>
                <a:highlight>
                  <a:srgbClr val="4D3F41"/>
                </a:highlight>
                <a:latin typeface="Consolas" pitchFamily="34" charset="0"/>
                <a:ea typeface="Consolas" pitchFamily="34" charset="-122"/>
                <a:cs typeface="Consolas" pitchFamily="34" charset="-120"/>
              </a:rPr>
              <a:t>pandas</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a:t>
            </a:r>
            <a:endParaRPr lang="en-US" sz="1550" dirty="0"/>
          </a:p>
        </p:txBody>
      </p:sp>
      <p:sp>
        <p:nvSpPr>
          <p:cNvPr id="6" name="Text 3"/>
          <p:cNvSpPr/>
          <p:nvPr/>
        </p:nvSpPr>
        <p:spPr>
          <a:xfrm>
            <a:off x="700564" y="5436037"/>
            <a:ext cx="6370439" cy="647938"/>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Initial Exploration:</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Used </a:t>
            </a:r>
            <a:pPr algn="l" indent="0" marL="0">
              <a:lnSpc>
                <a:spcPts val="2500"/>
              </a:lnSpc>
              <a:buNone/>
            </a:pPr>
            <a:r>
              <a:rPr lang="en-US" sz="1550" dirty="0">
                <a:solidFill>
                  <a:srgbClr val="D3C9C5"/>
                </a:solidFill>
                <a:highlight>
                  <a:srgbClr val="4D3F41"/>
                </a:highlight>
                <a:latin typeface="Consolas" pitchFamily="34" charset="0"/>
                <a:ea typeface="Consolas" pitchFamily="34" charset="-122"/>
                <a:cs typeface="Consolas" pitchFamily="34" charset="-120"/>
              </a:rPr>
              <a:t>df.info()</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and </a:t>
            </a:r>
            <a:pPr algn="l" indent="0" marL="0">
              <a:lnSpc>
                <a:spcPts val="2500"/>
              </a:lnSpc>
              <a:buNone/>
            </a:pPr>
            <a:r>
              <a:rPr lang="en-US" sz="1550" dirty="0">
                <a:solidFill>
                  <a:srgbClr val="D3C9C5"/>
                </a:solidFill>
                <a:highlight>
                  <a:srgbClr val="4D3F41"/>
                </a:highlight>
                <a:latin typeface="Consolas" pitchFamily="34" charset="0"/>
                <a:ea typeface="Consolas" pitchFamily="34" charset="-122"/>
                <a:cs typeface="Consolas" pitchFamily="34" charset="-120"/>
              </a:rPr>
              <a:t>.describe()</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for structure and summary.</a:t>
            </a:r>
            <a:endParaRPr lang="en-US" sz="1550" dirty="0"/>
          </a:p>
        </p:txBody>
      </p:sp>
      <p:sp>
        <p:nvSpPr>
          <p:cNvPr id="7" name="Text 4"/>
          <p:cNvSpPr/>
          <p:nvPr/>
        </p:nvSpPr>
        <p:spPr>
          <a:xfrm>
            <a:off x="700564" y="6153983"/>
            <a:ext cx="6370439" cy="640318"/>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Missing Data Handling:</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Imputed missing 'Review Rating' values using median per product category.</a:t>
            </a:r>
            <a:endParaRPr lang="en-US" sz="1550" dirty="0"/>
          </a:p>
        </p:txBody>
      </p:sp>
      <p:sp>
        <p:nvSpPr>
          <p:cNvPr id="8" name="Text 5"/>
          <p:cNvSpPr/>
          <p:nvPr/>
        </p:nvSpPr>
        <p:spPr>
          <a:xfrm>
            <a:off x="7567017" y="4525328"/>
            <a:ext cx="2593658" cy="312777"/>
          </a:xfrm>
          <a:prstGeom prst="rect">
            <a:avLst/>
          </a:prstGeom>
          <a:noFill/>
          <a:ln/>
        </p:spPr>
        <p:txBody>
          <a:bodyPr wrap="none" lIns="0" tIns="0" rIns="0" bIns="0" rtlCol="0" anchor="t"/>
          <a:lstStyle/>
          <a:p>
            <a:pPr algn="l" indent="0" marL="0">
              <a:lnSpc>
                <a:spcPts val="2450"/>
              </a:lnSpc>
              <a:buNone/>
            </a:pPr>
            <a:r>
              <a:rPr lang="en-US" sz="1950" b="1" dirty="0">
                <a:solidFill>
                  <a:srgbClr val="FFF8F5"/>
                </a:solidFill>
                <a:latin typeface="Noto Serif HK Bold" pitchFamily="34" charset="0"/>
                <a:ea typeface="Noto Serif HK Bold" pitchFamily="34" charset="-122"/>
                <a:cs typeface="Noto Serif HK Bold" pitchFamily="34" charset="-120"/>
              </a:rPr>
              <a:t>Feature Engineering</a:t>
            </a:r>
            <a:endParaRPr lang="en-US" sz="1950" dirty="0"/>
          </a:p>
        </p:txBody>
      </p:sp>
      <p:sp>
        <p:nvSpPr>
          <p:cNvPr id="9" name="Text 6"/>
          <p:cNvSpPr/>
          <p:nvPr/>
        </p:nvSpPr>
        <p:spPr>
          <a:xfrm>
            <a:off x="7567017" y="5038249"/>
            <a:ext cx="6370439" cy="320159"/>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Column Standardization:</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Renamed columns to snake_case.</a:t>
            </a:r>
            <a:endParaRPr lang="en-US" sz="1550" dirty="0"/>
          </a:p>
        </p:txBody>
      </p:sp>
      <p:sp>
        <p:nvSpPr>
          <p:cNvPr id="10" name="Text 7"/>
          <p:cNvSpPr/>
          <p:nvPr/>
        </p:nvSpPr>
        <p:spPr>
          <a:xfrm>
            <a:off x="7567017" y="5428417"/>
            <a:ext cx="6370439" cy="327779"/>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Age Group:</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Created </a:t>
            </a:r>
            <a:pPr algn="l" indent="0" marL="0">
              <a:lnSpc>
                <a:spcPts val="2500"/>
              </a:lnSpc>
              <a:buNone/>
            </a:pPr>
            <a:r>
              <a:rPr lang="en-US" sz="1550" dirty="0">
                <a:solidFill>
                  <a:srgbClr val="D3C9C5"/>
                </a:solidFill>
                <a:highlight>
                  <a:srgbClr val="4D3F41"/>
                </a:highlight>
                <a:latin typeface="Consolas" pitchFamily="34" charset="0"/>
                <a:ea typeface="Consolas" pitchFamily="34" charset="-122"/>
                <a:cs typeface="Consolas" pitchFamily="34" charset="-120"/>
              </a:rPr>
              <a:t>age_group</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by binning customer ages.</a:t>
            </a:r>
            <a:endParaRPr lang="en-US" sz="1550" dirty="0"/>
          </a:p>
        </p:txBody>
      </p:sp>
      <p:sp>
        <p:nvSpPr>
          <p:cNvPr id="11" name="Text 8"/>
          <p:cNvSpPr/>
          <p:nvPr/>
        </p:nvSpPr>
        <p:spPr>
          <a:xfrm>
            <a:off x="7567017" y="5826204"/>
            <a:ext cx="6370439" cy="327779"/>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Purchase Frequency:</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Derived </a:t>
            </a:r>
            <a:pPr algn="l" indent="0" marL="0">
              <a:lnSpc>
                <a:spcPts val="2500"/>
              </a:lnSpc>
              <a:buNone/>
            </a:pPr>
            <a:r>
              <a:rPr lang="en-US" sz="1550" dirty="0">
                <a:solidFill>
                  <a:srgbClr val="D3C9C5"/>
                </a:solidFill>
                <a:highlight>
                  <a:srgbClr val="4D3F41"/>
                </a:highlight>
                <a:latin typeface="Consolas" pitchFamily="34" charset="0"/>
                <a:ea typeface="Consolas" pitchFamily="34" charset="-122"/>
                <a:cs typeface="Consolas" pitchFamily="34" charset="-120"/>
              </a:rPr>
              <a:t>purchase_frequency_days</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a:t>
            </a:r>
            <a:endParaRPr lang="en-US" sz="1550" dirty="0"/>
          </a:p>
        </p:txBody>
      </p:sp>
      <p:sp>
        <p:nvSpPr>
          <p:cNvPr id="12" name="Text 9"/>
          <p:cNvSpPr/>
          <p:nvPr/>
        </p:nvSpPr>
        <p:spPr>
          <a:xfrm>
            <a:off x="7567017" y="6223992"/>
            <a:ext cx="6370439" cy="327779"/>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Data Consistency:</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Dropped redundant </a:t>
            </a:r>
            <a:pPr algn="l" indent="0" marL="0">
              <a:lnSpc>
                <a:spcPts val="2500"/>
              </a:lnSpc>
              <a:buNone/>
            </a:pPr>
            <a:r>
              <a:rPr lang="en-US" sz="1550" dirty="0">
                <a:solidFill>
                  <a:srgbClr val="D3C9C5"/>
                </a:solidFill>
                <a:highlight>
                  <a:srgbClr val="4D3F41"/>
                </a:highlight>
                <a:latin typeface="Consolas" pitchFamily="34" charset="0"/>
                <a:ea typeface="Consolas" pitchFamily="34" charset="-122"/>
                <a:cs typeface="Consolas" pitchFamily="34" charset="-120"/>
              </a:rPr>
              <a:t>promo_code_used</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a:t>
            </a:r>
            <a:endParaRPr lang="en-US" sz="1550" dirty="0"/>
          </a:p>
        </p:txBody>
      </p:sp>
      <p:sp>
        <p:nvSpPr>
          <p:cNvPr id="13" name="Text 10"/>
          <p:cNvSpPr/>
          <p:nvPr/>
        </p:nvSpPr>
        <p:spPr>
          <a:xfrm>
            <a:off x="7567017" y="6621780"/>
            <a:ext cx="6370439" cy="640318"/>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D3C9C5"/>
                </a:solidFill>
                <a:latin typeface="Noto Serif HK" pitchFamily="34" charset="0"/>
                <a:ea typeface="Noto Serif HK" pitchFamily="34" charset="-122"/>
                <a:cs typeface="Noto Serif HK" pitchFamily="34" charset="-120"/>
              </a:rPr>
              <a:t>Database Integration:</a:t>
            </a:r>
            <a:pPr algn="l" indent="0" marL="0">
              <a:lnSpc>
                <a:spcPts val="2500"/>
              </a:lnSpc>
              <a:buNone/>
            </a:pPr>
            <a:r>
              <a:rPr lang="en-US" sz="1550" dirty="0">
                <a:solidFill>
                  <a:srgbClr val="D3C9C5"/>
                </a:solidFill>
                <a:latin typeface="Noto Serif HK" pitchFamily="34" charset="0"/>
                <a:ea typeface="Noto Serif HK" pitchFamily="34" charset="-122"/>
                <a:cs typeface="Noto Serif HK" pitchFamily="34" charset="-120"/>
              </a:rPr>
              <a:t> Loaded cleaned data into PostgreSQL for SQL analysis.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31163"/>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FFF8F5"/>
                </a:solidFill>
                <a:latin typeface="Noto Serif HK Bold" pitchFamily="34" charset="0"/>
                <a:ea typeface="Noto Serif HK Bold" pitchFamily="34" charset="-122"/>
                <a:cs typeface="Noto Serif HK Bold" pitchFamily="34" charset="-120"/>
              </a:rPr>
              <a:t>Data Analysis using SQL: Key Insights</a:t>
            </a:r>
            <a:endParaRPr lang="en-US" sz="4450" dirty="0"/>
          </a:p>
        </p:txBody>
      </p:sp>
      <p:pic>
        <p:nvPicPr>
          <p:cNvPr id="4" name="Image 1" descr="preencoded.png">    </p:cNvPr>
          <p:cNvPicPr>
            <a:picLocks noChangeAspect="1"/>
          </p:cNvPicPr>
          <p:nvPr/>
        </p:nvPicPr>
        <p:blipFill>
          <a:blip r:embed="rId2"/>
          <a:stretch>
            <a:fillRect/>
          </a:stretch>
        </p:blipFill>
        <p:spPr>
          <a:xfrm>
            <a:off x="793790" y="2488883"/>
            <a:ext cx="1134070" cy="1669852"/>
          </a:xfrm>
          <a:prstGeom prst="rect">
            <a:avLst/>
          </a:prstGeom>
        </p:spPr>
      </p:pic>
      <p:sp>
        <p:nvSpPr>
          <p:cNvPr id="5" name="Text 1"/>
          <p:cNvSpPr/>
          <p:nvPr/>
        </p:nvSpPr>
        <p:spPr>
          <a:xfrm>
            <a:off x="2154674" y="271569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Revenue by Gender</a:t>
            </a:r>
            <a:endParaRPr lang="en-US" sz="2200" dirty="0"/>
          </a:p>
        </p:txBody>
      </p:sp>
      <p:sp>
        <p:nvSpPr>
          <p:cNvPr id="6" name="Text 2"/>
          <p:cNvSpPr/>
          <p:nvPr/>
        </p:nvSpPr>
        <p:spPr>
          <a:xfrm>
            <a:off x="2154674" y="3206115"/>
            <a:ext cx="6195536"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Male customers generated significantly more revenue ($157,890) than female customers ($75,191).</a:t>
            </a:r>
            <a:endParaRPr lang="en-US" sz="1750" dirty="0"/>
          </a:p>
        </p:txBody>
      </p:sp>
      <p:pic>
        <p:nvPicPr>
          <p:cNvPr id="7" name="Image 2" descr="preencoded.png">    </p:cNvPr>
          <p:cNvPicPr>
            <a:picLocks noChangeAspect="1"/>
          </p:cNvPicPr>
          <p:nvPr/>
        </p:nvPicPr>
        <p:blipFill>
          <a:blip r:embed="rId3"/>
          <a:stretch>
            <a:fillRect/>
          </a:stretch>
        </p:blipFill>
        <p:spPr>
          <a:xfrm>
            <a:off x="793790" y="4158734"/>
            <a:ext cx="1134070" cy="1669852"/>
          </a:xfrm>
          <a:prstGeom prst="rect">
            <a:avLst/>
          </a:prstGeom>
        </p:spPr>
      </p:pic>
      <p:sp>
        <p:nvSpPr>
          <p:cNvPr id="8" name="Text 3"/>
          <p:cNvSpPr/>
          <p:nvPr/>
        </p:nvSpPr>
        <p:spPr>
          <a:xfrm>
            <a:off x="2154674" y="4385548"/>
            <a:ext cx="4411028"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High-Spending Discount Users</a:t>
            </a:r>
            <a:endParaRPr lang="en-US" sz="2200" dirty="0"/>
          </a:p>
        </p:txBody>
      </p:sp>
      <p:sp>
        <p:nvSpPr>
          <p:cNvPr id="9" name="Text 4"/>
          <p:cNvSpPr/>
          <p:nvPr/>
        </p:nvSpPr>
        <p:spPr>
          <a:xfrm>
            <a:off x="2154674" y="4875967"/>
            <a:ext cx="6195536"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Identified 839 customers who used discounts but still spent above the average purchase amount.</a:t>
            </a:r>
            <a:endParaRPr lang="en-US" sz="1750" dirty="0"/>
          </a:p>
        </p:txBody>
      </p:sp>
      <p:pic>
        <p:nvPicPr>
          <p:cNvPr id="10" name="Image 3" descr="preencoded.png">    </p:cNvPr>
          <p:cNvPicPr>
            <a:picLocks noChangeAspect="1"/>
          </p:cNvPicPr>
          <p:nvPr/>
        </p:nvPicPr>
        <p:blipFill>
          <a:blip r:embed="rId4"/>
          <a:stretch>
            <a:fillRect/>
          </a:stretch>
        </p:blipFill>
        <p:spPr>
          <a:xfrm>
            <a:off x="793790" y="5828586"/>
            <a:ext cx="1134070" cy="1669852"/>
          </a:xfrm>
          <a:prstGeom prst="rect">
            <a:avLst/>
          </a:prstGeom>
        </p:spPr>
      </p:pic>
      <p:sp>
        <p:nvSpPr>
          <p:cNvPr id="11" name="Text 5"/>
          <p:cNvSpPr/>
          <p:nvPr/>
        </p:nvSpPr>
        <p:spPr>
          <a:xfrm>
            <a:off x="2154674" y="6055400"/>
            <a:ext cx="358580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Top 5 Products by Rating</a:t>
            </a:r>
            <a:endParaRPr lang="en-US" sz="2200" dirty="0"/>
          </a:p>
        </p:txBody>
      </p:sp>
      <p:sp>
        <p:nvSpPr>
          <p:cNvPr id="12" name="Text 6"/>
          <p:cNvSpPr/>
          <p:nvPr/>
        </p:nvSpPr>
        <p:spPr>
          <a:xfrm>
            <a:off x="2154674" y="6545818"/>
            <a:ext cx="6195536"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Gloves, Sandals, and Boots lead with the highest average review ratings.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2687" y="426363"/>
            <a:ext cx="6330672" cy="484584"/>
          </a:xfrm>
          <a:prstGeom prst="rect">
            <a:avLst/>
          </a:prstGeom>
          <a:noFill/>
          <a:ln/>
        </p:spPr>
        <p:txBody>
          <a:bodyPr wrap="none" lIns="0" tIns="0" rIns="0" bIns="0" rtlCol="0" anchor="t"/>
          <a:lstStyle/>
          <a:p>
            <a:pPr algn="l" indent="0" marL="0">
              <a:lnSpc>
                <a:spcPts val="3800"/>
              </a:lnSpc>
              <a:buNone/>
            </a:pPr>
            <a:r>
              <a:rPr lang="en-US" sz="3050" b="1" dirty="0">
                <a:solidFill>
                  <a:srgbClr val="FFF8F5"/>
                </a:solidFill>
                <a:latin typeface="Noto Serif HK Bold" pitchFamily="34" charset="0"/>
                <a:ea typeface="Noto Serif HK Bold" pitchFamily="34" charset="-122"/>
                <a:cs typeface="Noto Serif HK Bold" pitchFamily="34" charset="-120"/>
              </a:rPr>
              <a:t>Shipping &amp; Subscription Impact</a:t>
            </a:r>
            <a:endParaRPr lang="en-US" sz="3050" dirty="0"/>
          </a:p>
        </p:txBody>
      </p:sp>
      <p:sp>
        <p:nvSpPr>
          <p:cNvPr id="3" name="Text 1"/>
          <p:cNvSpPr/>
          <p:nvPr/>
        </p:nvSpPr>
        <p:spPr>
          <a:xfrm>
            <a:off x="542687" y="1298496"/>
            <a:ext cx="2673072" cy="242292"/>
          </a:xfrm>
          <a:prstGeom prst="rect">
            <a:avLst/>
          </a:prstGeom>
          <a:noFill/>
          <a:ln/>
        </p:spPr>
        <p:txBody>
          <a:bodyPr wrap="none" lIns="0" tIns="0" rIns="0" bIns="0" rtlCol="0" anchor="t"/>
          <a:lstStyle/>
          <a:p>
            <a:pPr algn="l" indent="0" marL="0">
              <a:lnSpc>
                <a:spcPts val="1900"/>
              </a:lnSpc>
              <a:buNone/>
            </a:pPr>
            <a:r>
              <a:rPr lang="en-US" sz="1500" b="1" dirty="0">
                <a:solidFill>
                  <a:srgbClr val="FFF8F5"/>
                </a:solidFill>
                <a:latin typeface="Noto Serif HK Bold" pitchFamily="34" charset="0"/>
                <a:ea typeface="Noto Serif HK Bold" pitchFamily="34" charset="-122"/>
                <a:cs typeface="Noto Serif HK Bold" pitchFamily="34" charset="-120"/>
              </a:rPr>
              <a:t>Shipping Type Comparison</a:t>
            </a:r>
            <a:endParaRPr lang="en-US" sz="1500" dirty="0"/>
          </a:p>
        </p:txBody>
      </p:sp>
      <p:sp>
        <p:nvSpPr>
          <p:cNvPr id="4" name="Text 2"/>
          <p:cNvSpPr/>
          <p:nvPr/>
        </p:nvSpPr>
        <p:spPr>
          <a:xfrm>
            <a:off x="542687" y="1695807"/>
            <a:ext cx="6583323" cy="496253"/>
          </a:xfrm>
          <a:prstGeom prst="rect">
            <a:avLst/>
          </a:prstGeom>
          <a:noFill/>
          <a:ln/>
        </p:spPr>
        <p:txBody>
          <a:bodyPr wrap="square" lIns="0" tIns="0" rIns="0" bIns="0" rtlCol="0" anchor="t"/>
          <a:lstStyle/>
          <a:p>
            <a:pPr algn="l" indent="0" marL="0">
              <a:lnSpc>
                <a:spcPts val="1950"/>
              </a:lnSpc>
              <a:buNone/>
            </a:pPr>
            <a:r>
              <a:rPr lang="en-US" sz="1200" dirty="0">
                <a:solidFill>
                  <a:srgbClr val="D3C9C5"/>
                </a:solidFill>
                <a:latin typeface="Noto Serif HK" pitchFamily="34" charset="0"/>
                <a:ea typeface="Noto Serif HK" pitchFamily="34" charset="-122"/>
                <a:cs typeface="Noto Serif HK" pitchFamily="34" charset="-120"/>
              </a:rPr>
              <a:t>Express shipping shows a slightly higher average purchase amount ($60.48) compared to Standard shipping ($58.46).</a:t>
            </a:r>
            <a:endParaRPr lang="en-US" sz="1200" dirty="0"/>
          </a:p>
        </p:txBody>
      </p:sp>
      <p:pic>
        <p:nvPicPr>
          <p:cNvPr id="5" name="Image 0" descr="preencoded.png">    </p:cNvPr>
          <p:cNvPicPr>
            <a:picLocks noChangeAspect="1"/>
          </p:cNvPicPr>
          <p:nvPr/>
        </p:nvPicPr>
        <p:blipFill>
          <a:blip r:embed="rId1"/>
          <a:stretch>
            <a:fillRect/>
          </a:stretch>
        </p:blipFill>
        <p:spPr>
          <a:xfrm>
            <a:off x="542687" y="2366486"/>
            <a:ext cx="6583323" cy="6583323"/>
          </a:xfrm>
          <a:prstGeom prst="rect">
            <a:avLst/>
          </a:prstGeom>
        </p:spPr>
      </p:pic>
      <p:sp>
        <p:nvSpPr>
          <p:cNvPr id="6" name="Text 3"/>
          <p:cNvSpPr/>
          <p:nvPr/>
        </p:nvSpPr>
        <p:spPr>
          <a:xfrm>
            <a:off x="7512010" y="1298496"/>
            <a:ext cx="3200043" cy="242292"/>
          </a:xfrm>
          <a:prstGeom prst="rect">
            <a:avLst/>
          </a:prstGeom>
          <a:noFill/>
          <a:ln/>
        </p:spPr>
        <p:txBody>
          <a:bodyPr wrap="none" lIns="0" tIns="0" rIns="0" bIns="0" rtlCol="0" anchor="t"/>
          <a:lstStyle/>
          <a:p>
            <a:pPr algn="l" indent="0" marL="0">
              <a:lnSpc>
                <a:spcPts val="1900"/>
              </a:lnSpc>
              <a:buNone/>
            </a:pPr>
            <a:r>
              <a:rPr lang="en-US" sz="1500" b="1" dirty="0">
                <a:solidFill>
                  <a:srgbClr val="FFF8F5"/>
                </a:solidFill>
                <a:latin typeface="Noto Serif HK Bold" pitchFamily="34" charset="0"/>
                <a:ea typeface="Noto Serif HK Bold" pitchFamily="34" charset="-122"/>
                <a:cs typeface="Noto Serif HK Bold" pitchFamily="34" charset="-120"/>
              </a:rPr>
              <a:t>Subscribers vs. Non-Subscribers</a:t>
            </a:r>
            <a:endParaRPr lang="en-US" sz="1500" dirty="0"/>
          </a:p>
        </p:txBody>
      </p:sp>
      <p:sp>
        <p:nvSpPr>
          <p:cNvPr id="7" name="Text 4"/>
          <p:cNvSpPr/>
          <p:nvPr/>
        </p:nvSpPr>
        <p:spPr>
          <a:xfrm>
            <a:off x="7512010" y="1695807"/>
            <a:ext cx="6583323" cy="496253"/>
          </a:xfrm>
          <a:prstGeom prst="rect">
            <a:avLst/>
          </a:prstGeom>
          <a:noFill/>
          <a:ln/>
        </p:spPr>
        <p:txBody>
          <a:bodyPr wrap="square" lIns="0" tIns="0" rIns="0" bIns="0" rtlCol="0" anchor="t"/>
          <a:lstStyle/>
          <a:p>
            <a:pPr algn="l" indent="0" marL="0">
              <a:lnSpc>
                <a:spcPts val="1950"/>
              </a:lnSpc>
              <a:buNone/>
            </a:pPr>
            <a:r>
              <a:rPr lang="en-US" sz="1200" dirty="0">
                <a:solidFill>
                  <a:srgbClr val="D3C9C5"/>
                </a:solidFill>
                <a:latin typeface="Noto Serif HK" pitchFamily="34" charset="0"/>
                <a:ea typeface="Noto Serif HK" pitchFamily="34" charset="-122"/>
                <a:cs typeface="Noto Serif HK" pitchFamily="34" charset="-120"/>
              </a:rPr>
              <a:t>Non-subscribers contribute more to total revenue ($170,436) than subscribers ($62,645), despite similar average spend.</a:t>
            </a:r>
            <a:endParaRPr lang="en-US" sz="1200" dirty="0"/>
          </a:p>
        </p:txBody>
      </p:sp>
      <p:pic>
        <p:nvPicPr>
          <p:cNvPr id="8" name="Image 1" descr="preencoded.png">    </p:cNvPr>
          <p:cNvPicPr>
            <a:picLocks noChangeAspect="1"/>
          </p:cNvPicPr>
          <p:nvPr/>
        </p:nvPicPr>
        <p:blipFill>
          <a:blip r:embed="rId2"/>
          <a:stretch>
            <a:fillRect/>
          </a:stretch>
        </p:blipFill>
        <p:spPr>
          <a:xfrm>
            <a:off x="7512010" y="2366486"/>
            <a:ext cx="6583323" cy="65833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72684"/>
            <a:ext cx="8686086" cy="708779"/>
          </a:xfrm>
          <a:prstGeom prst="rect">
            <a:avLst/>
          </a:prstGeom>
          <a:noFill/>
          <a:ln/>
        </p:spPr>
        <p:txBody>
          <a:bodyPr wrap="none" lIns="0" tIns="0" rIns="0" bIns="0" rtlCol="0" anchor="t"/>
          <a:lstStyle/>
          <a:p>
            <a:pPr algn="l" indent="0" marL="0">
              <a:lnSpc>
                <a:spcPts val="5550"/>
              </a:lnSpc>
              <a:buNone/>
            </a:pPr>
            <a:r>
              <a:rPr lang="en-US" sz="4450" b="1" dirty="0">
                <a:solidFill>
                  <a:srgbClr val="FFF8F5"/>
                </a:solidFill>
                <a:latin typeface="Noto Serif HK Bold" pitchFamily="34" charset="0"/>
                <a:ea typeface="Noto Serif HK Bold" pitchFamily="34" charset="-122"/>
                <a:cs typeface="Noto Serif HK Bold" pitchFamily="34" charset="-120"/>
              </a:rPr>
              <a:t>Discount-Dependent Products</a:t>
            </a:r>
            <a:endParaRPr lang="en-US" sz="4450" dirty="0"/>
          </a:p>
        </p:txBody>
      </p:sp>
      <p:sp>
        <p:nvSpPr>
          <p:cNvPr id="3" name="Text 1"/>
          <p:cNvSpPr/>
          <p:nvPr/>
        </p:nvSpPr>
        <p:spPr>
          <a:xfrm>
            <a:off x="793790" y="2635091"/>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Certain products show a higher reliance on discounts to drive purchases.</a:t>
            </a:r>
            <a:endParaRPr lang="en-US" sz="1750" dirty="0"/>
          </a:p>
        </p:txBody>
      </p:sp>
      <p:sp>
        <p:nvSpPr>
          <p:cNvPr id="4" name="Shape 2"/>
          <p:cNvSpPr/>
          <p:nvPr/>
        </p:nvSpPr>
        <p:spPr>
          <a:xfrm>
            <a:off x="793790" y="3366492"/>
            <a:ext cx="3381018" cy="283488"/>
          </a:xfrm>
          <a:prstGeom prst="roundRect">
            <a:avLst>
              <a:gd name="adj" fmla="val 12002"/>
            </a:avLst>
          </a:prstGeom>
          <a:solidFill>
            <a:srgbClr val="5F5153"/>
          </a:solidFill>
          <a:ln/>
        </p:spPr>
      </p:sp>
      <p:sp>
        <p:nvSpPr>
          <p:cNvPr id="5" name="Shape 3"/>
          <p:cNvSpPr/>
          <p:nvPr/>
        </p:nvSpPr>
        <p:spPr>
          <a:xfrm>
            <a:off x="793790" y="3366492"/>
            <a:ext cx="1690449" cy="283488"/>
          </a:xfrm>
          <a:prstGeom prst="roundRect">
            <a:avLst>
              <a:gd name="adj" fmla="val 12002"/>
            </a:avLst>
          </a:prstGeom>
          <a:solidFill>
            <a:srgbClr val="E2C2B3"/>
          </a:solidFill>
          <a:ln/>
        </p:spPr>
      </p:sp>
      <p:sp>
        <p:nvSpPr>
          <p:cNvPr id="6" name="Text 4"/>
          <p:cNvSpPr/>
          <p:nvPr/>
        </p:nvSpPr>
        <p:spPr>
          <a:xfrm>
            <a:off x="4344829" y="3366492"/>
            <a:ext cx="607576" cy="283488"/>
          </a:xfrm>
          <a:prstGeom prst="rect">
            <a:avLst/>
          </a:prstGeom>
          <a:noFill/>
          <a:ln/>
        </p:spPr>
        <p:txBody>
          <a:bodyPr wrap="none" lIns="0" tIns="0" rIns="0" bIns="0" rtlCol="0" anchor="t"/>
          <a:lstStyle/>
          <a:p>
            <a:pPr algn="l" indent="0" marL="0">
              <a:lnSpc>
                <a:spcPts val="2200"/>
              </a:lnSpc>
              <a:buNone/>
            </a:pPr>
            <a:r>
              <a:rPr lang="en-US" sz="2200" b="1" dirty="0">
                <a:solidFill>
                  <a:srgbClr val="D3C9C5"/>
                </a:solidFill>
                <a:latin typeface="Noto Serif HK Bold" pitchFamily="34" charset="0"/>
                <a:ea typeface="Noto Serif HK Bold" pitchFamily="34" charset="-122"/>
                <a:cs typeface="Noto Serif HK Bold" pitchFamily="34" charset="-120"/>
              </a:rPr>
              <a:t>50%</a:t>
            </a:r>
            <a:endParaRPr lang="en-US" sz="2200" dirty="0"/>
          </a:p>
        </p:txBody>
      </p:sp>
      <p:sp>
        <p:nvSpPr>
          <p:cNvPr id="7" name="Text 5"/>
          <p:cNvSpPr/>
          <p:nvPr/>
        </p:nvSpPr>
        <p:spPr>
          <a:xfrm>
            <a:off x="793790" y="393334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Hat</a:t>
            </a:r>
            <a:endParaRPr lang="en-US" sz="2200" dirty="0"/>
          </a:p>
        </p:txBody>
      </p:sp>
      <p:sp>
        <p:nvSpPr>
          <p:cNvPr id="8" name="Shape 6"/>
          <p:cNvSpPr/>
          <p:nvPr/>
        </p:nvSpPr>
        <p:spPr>
          <a:xfrm>
            <a:off x="5235893" y="3366492"/>
            <a:ext cx="2952274" cy="283488"/>
          </a:xfrm>
          <a:prstGeom prst="roundRect">
            <a:avLst>
              <a:gd name="adj" fmla="val 12002"/>
            </a:avLst>
          </a:prstGeom>
          <a:solidFill>
            <a:srgbClr val="5F5153"/>
          </a:solidFill>
          <a:ln/>
        </p:spPr>
      </p:sp>
      <p:sp>
        <p:nvSpPr>
          <p:cNvPr id="9" name="Shape 7"/>
          <p:cNvSpPr/>
          <p:nvPr/>
        </p:nvSpPr>
        <p:spPr>
          <a:xfrm>
            <a:off x="5235893" y="3366492"/>
            <a:ext cx="1466017" cy="283488"/>
          </a:xfrm>
          <a:prstGeom prst="roundRect">
            <a:avLst>
              <a:gd name="adj" fmla="val 12002"/>
            </a:avLst>
          </a:prstGeom>
          <a:solidFill>
            <a:srgbClr val="E2C2B3"/>
          </a:solidFill>
          <a:ln/>
        </p:spPr>
      </p:sp>
      <p:sp>
        <p:nvSpPr>
          <p:cNvPr id="10" name="Text 8"/>
          <p:cNvSpPr/>
          <p:nvPr/>
        </p:nvSpPr>
        <p:spPr>
          <a:xfrm>
            <a:off x="8358188" y="3366492"/>
            <a:ext cx="1036320" cy="283488"/>
          </a:xfrm>
          <a:prstGeom prst="rect">
            <a:avLst/>
          </a:prstGeom>
          <a:noFill/>
          <a:ln/>
        </p:spPr>
        <p:txBody>
          <a:bodyPr wrap="none" lIns="0" tIns="0" rIns="0" bIns="0" rtlCol="0" anchor="t"/>
          <a:lstStyle/>
          <a:p>
            <a:pPr algn="l" indent="0" marL="0">
              <a:lnSpc>
                <a:spcPts val="2200"/>
              </a:lnSpc>
              <a:buNone/>
            </a:pPr>
            <a:r>
              <a:rPr lang="en-US" sz="2200" b="1" dirty="0">
                <a:solidFill>
                  <a:srgbClr val="D3C9C5"/>
                </a:solidFill>
                <a:latin typeface="Noto Serif HK Bold" pitchFamily="34" charset="0"/>
                <a:ea typeface="Noto Serif HK Bold" pitchFamily="34" charset="-122"/>
                <a:cs typeface="Noto Serif HK Bold" pitchFamily="34" charset="-120"/>
              </a:rPr>
              <a:t>49.66%</a:t>
            </a:r>
            <a:endParaRPr lang="en-US" sz="2200" dirty="0"/>
          </a:p>
        </p:txBody>
      </p:sp>
      <p:sp>
        <p:nvSpPr>
          <p:cNvPr id="11" name="Text 9"/>
          <p:cNvSpPr/>
          <p:nvPr/>
        </p:nvSpPr>
        <p:spPr>
          <a:xfrm>
            <a:off x="5235893" y="393334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Sneakers</a:t>
            </a:r>
            <a:endParaRPr lang="en-US" sz="2200" dirty="0"/>
          </a:p>
        </p:txBody>
      </p:sp>
      <p:sp>
        <p:nvSpPr>
          <p:cNvPr id="12" name="Shape 10"/>
          <p:cNvSpPr/>
          <p:nvPr/>
        </p:nvSpPr>
        <p:spPr>
          <a:xfrm>
            <a:off x="9677995" y="3366492"/>
            <a:ext cx="2952274" cy="283488"/>
          </a:xfrm>
          <a:prstGeom prst="roundRect">
            <a:avLst>
              <a:gd name="adj" fmla="val 12002"/>
            </a:avLst>
          </a:prstGeom>
          <a:solidFill>
            <a:srgbClr val="5F5153"/>
          </a:solidFill>
          <a:ln/>
        </p:spPr>
      </p:sp>
      <p:sp>
        <p:nvSpPr>
          <p:cNvPr id="13" name="Shape 11"/>
          <p:cNvSpPr/>
          <p:nvPr/>
        </p:nvSpPr>
        <p:spPr>
          <a:xfrm>
            <a:off x="9677995" y="3366492"/>
            <a:ext cx="1448633" cy="283488"/>
          </a:xfrm>
          <a:prstGeom prst="roundRect">
            <a:avLst>
              <a:gd name="adj" fmla="val 12002"/>
            </a:avLst>
          </a:prstGeom>
          <a:solidFill>
            <a:srgbClr val="E2C2B3"/>
          </a:solidFill>
          <a:ln/>
        </p:spPr>
      </p:sp>
      <p:sp>
        <p:nvSpPr>
          <p:cNvPr id="14" name="Text 12"/>
          <p:cNvSpPr/>
          <p:nvPr/>
        </p:nvSpPr>
        <p:spPr>
          <a:xfrm>
            <a:off x="12800290" y="3366492"/>
            <a:ext cx="1036320" cy="283488"/>
          </a:xfrm>
          <a:prstGeom prst="rect">
            <a:avLst/>
          </a:prstGeom>
          <a:noFill/>
          <a:ln/>
        </p:spPr>
        <p:txBody>
          <a:bodyPr wrap="none" lIns="0" tIns="0" rIns="0" bIns="0" rtlCol="0" anchor="t"/>
          <a:lstStyle/>
          <a:p>
            <a:pPr algn="l" indent="0" marL="0">
              <a:lnSpc>
                <a:spcPts val="2200"/>
              </a:lnSpc>
              <a:buNone/>
            </a:pPr>
            <a:r>
              <a:rPr lang="en-US" sz="2200" b="1" dirty="0">
                <a:solidFill>
                  <a:srgbClr val="D3C9C5"/>
                </a:solidFill>
                <a:latin typeface="Noto Serif HK Bold" pitchFamily="34" charset="0"/>
                <a:ea typeface="Noto Serif HK Bold" pitchFamily="34" charset="-122"/>
                <a:cs typeface="Noto Serif HK Bold" pitchFamily="34" charset="-120"/>
              </a:rPr>
              <a:t>49.07%</a:t>
            </a:r>
            <a:endParaRPr lang="en-US" sz="2200" dirty="0"/>
          </a:p>
        </p:txBody>
      </p:sp>
      <p:sp>
        <p:nvSpPr>
          <p:cNvPr id="15" name="Text 13"/>
          <p:cNvSpPr/>
          <p:nvPr/>
        </p:nvSpPr>
        <p:spPr>
          <a:xfrm>
            <a:off x="9677995" y="393334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Coat</a:t>
            </a:r>
            <a:endParaRPr lang="en-US" sz="2200" dirty="0"/>
          </a:p>
        </p:txBody>
      </p:sp>
      <p:sp>
        <p:nvSpPr>
          <p:cNvPr id="16" name="Shape 14"/>
          <p:cNvSpPr/>
          <p:nvPr/>
        </p:nvSpPr>
        <p:spPr>
          <a:xfrm>
            <a:off x="793790" y="4854654"/>
            <a:ext cx="2952274" cy="283488"/>
          </a:xfrm>
          <a:prstGeom prst="roundRect">
            <a:avLst>
              <a:gd name="adj" fmla="val 12002"/>
            </a:avLst>
          </a:prstGeom>
          <a:solidFill>
            <a:srgbClr val="5F5153"/>
          </a:solidFill>
          <a:ln/>
        </p:spPr>
      </p:sp>
      <p:sp>
        <p:nvSpPr>
          <p:cNvPr id="17" name="Shape 15"/>
          <p:cNvSpPr/>
          <p:nvPr/>
        </p:nvSpPr>
        <p:spPr>
          <a:xfrm>
            <a:off x="793790" y="4854654"/>
            <a:ext cx="1422083" cy="283488"/>
          </a:xfrm>
          <a:prstGeom prst="roundRect">
            <a:avLst>
              <a:gd name="adj" fmla="val 12002"/>
            </a:avLst>
          </a:prstGeom>
          <a:solidFill>
            <a:srgbClr val="E2C2B3"/>
          </a:solidFill>
          <a:ln/>
        </p:spPr>
      </p:sp>
      <p:sp>
        <p:nvSpPr>
          <p:cNvPr id="18" name="Text 16"/>
          <p:cNvSpPr/>
          <p:nvPr/>
        </p:nvSpPr>
        <p:spPr>
          <a:xfrm>
            <a:off x="3916085" y="4854654"/>
            <a:ext cx="1036320" cy="283488"/>
          </a:xfrm>
          <a:prstGeom prst="rect">
            <a:avLst/>
          </a:prstGeom>
          <a:noFill/>
          <a:ln/>
        </p:spPr>
        <p:txBody>
          <a:bodyPr wrap="none" lIns="0" tIns="0" rIns="0" bIns="0" rtlCol="0" anchor="t"/>
          <a:lstStyle/>
          <a:p>
            <a:pPr algn="l" indent="0" marL="0">
              <a:lnSpc>
                <a:spcPts val="2200"/>
              </a:lnSpc>
              <a:buNone/>
            </a:pPr>
            <a:r>
              <a:rPr lang="en-US" sz="2200" b="1" dirty="0">
                <a:solidFill>
                  <a:srgbClr val="D3C9C5"/>
                </a:solidFill>
                <a:latin typeface="Noto Serif HK Bold" pitchFamily="34" charset="0"/>
                <a:ea typeface="Noto Serif HK Bold" pitchFamily="34" charset="-122"/>
                <a:cs typeface="Noto Serif HK Bold" pitchFamily="34" charset="-120"/>
              </a:rPr>
              <a:t>48.17%</a:t>
            </a:r>
            <a:endParaRPr lang="en-US" sz="2200" dirty="0"/>
          </a:p>
        </p:txBody>
      </p:sp>
      <p:sp>
        <p:nvSpPr>
          <p:cNvPr id="19" name="Text 17"/>
          <p:cNvSpPr/>
          <p:nvPr/>
        </p:nvSpPr>
        <p:spPr>
          <a:xfrm>
            <a:off x="793790" y="5421511"/>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Sweater</a:t>
            </a:r>
            <a:endParaRPr lang="en-US" sz="2200" dirty="0"/>
          </a:p>
        </p:txBody>
      </p:sp>
      <p:sp>
        <p:nvSpPr>
          <p:cNvPr id="20" name="Shape 18"/>
          <p:cNvSpPr/>
          <p:nvPr/>
        </p:nvSpPr>
        <p:spPr>
          <a:xfrm>
            <a:off x="5235893" y="4854654"/>
            <a:ext cx="2952274" cy="283488"/>
          </a:xfrm>
          <a:prstGeom prst="roundRect">
            <a:avLst>
              <a:gd name="adj" fmla="val 12002"/>
            </a:avLst>
          </a:prstGeom>
          <a:solidFill>
            <a:srgbClr val="5F5153"/>
          </a:solidFill>
          <a:ln/>
        </p:spPr>
      </p:sp>
      <p:sp>
        <p:nvSpPr>
          <p:cNvPr id="21" name="Shape 19"/>
          <p:cNvSpPr/>
          <p:nvPr/>
        </p:nvSpPr>
        <p:spPr>
          <a:xfrm>
            <a:off x="5235893" y="4854654"/>
            <a:ext cx="1398389" cy="283488"/>
          </a:xfrm>
          <a:prstGeom prst="roundRect">
            <a:avLst>
              <a:gd name="adj" fmla="val 12002"/>
            </a:avLst>
          </a:prstGeom>
          <a:solidFill>
            <a:srgbClr val="E2C2B3"/>
          </a:solidFill>
          <a:ln/>
        </p:spPr>
      </p:sp>
      <p:sp>
        <p:nvSpPr>
          <p:cNvPr id="22" name="Text 20"/>
          <p:cNvSpPr/>
          <p:nvPr/>
        </p:nvSpPr>
        <p:spPr>
          <a:xfrm>
            <a:off x="8358188" y="4854654"/>
            <a:ext cx="1036320" cy="283488"/>
          </a:xfrm>
          <a:prstGeom prst="rect">
            <a:avLst/>
          </a:prstGeom>
          <a:noFill/>
          <a:ln/>
        </p:spPr>
        <p:txBody>
          <a:bodyPr wrap="none" lIns="0" tIns="0" rIns="0" bIns="0" rtlCol="0" anchor="t"/>
          <a:lstStyle/>
          <a:p>
            <a:pPr algn="l" indent="0" marL="0">
              <a:lnSpc>
                <a:spcPts val="2200"/>
              </a:lnSpc>
              <a:buNone/>
            </a:pPr>
            <a:r>
              <a:rPr lang="en-US" sz="2200" b="1" dirty="0">
                <a:solidFill>
                  <a:srgbClr val="D3C9C5"/>
                </a:solidFill>
                <a:latin typeface="Noto Serif HK Bold" pitchFamily="34" charset="0"/>
                <a:ea typeface="Noto Serif HK Bold" pitchFamily="34" charset="-122"/>
                <a:cs typeface="Noto Serif HK Bold" pitchFamily="34" charset="-120"/>
              </a:rPr>
              <a:t>47.37%</a:t>
            </a:r>
            <a:endParaRPr lang="en-US" sz="2200" dirty="0"/>
          </a:p>
        </p:txBody>
      </p:sp>
      <p:sp>
        <p:nvSpPr>
          <p:cNvPr id="23" name="Text 21"/>
          <p:cNvSpPr/>
          <p:nvPr/>
        </p:nvSpPr>
        <p:spPr>
          <a:xfrm>
            <a:off x="5235893" y="5421511"/>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Pants</a:t>
            </a:r>
            <a:endParaRPr lang="en-US" sz="2200" dirty="0"/>
          </a:p>
        </p:txBody>
      </p:sp>
      <p:sp>
        <p:nvSpPr>
          <p:cNvPr id="24" name="Text 22"/>
          <p:cNvSpPr/>
          <p:nvPr/>
        </p:nvSpPr>
        <p:spPr>
          <a:xfrm>
            <a:off x="793790" y="603099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These products consistently have a high percentage of discounted purchases, indicating potential price sensitivity or promotional effectiveness.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33055"/>
            <a:ext cx="6954560" cy="708779"/>
          </a:xfrm>
          <a:prstGeom prst="rect">
            <a:avLst/>
          </a:prstGeom>
          <a:noFill/>
          <a:ln/>
        </p:spPr>
        <p:txBody>
          <a:bodyPr wrap="none" lIns="0" tIns="0" rIns="0" bIns="0" rtlCol="0" anchor="t"/>
          <a:lstStyle/>
          <a:p>
            <a:pPr algn="l" indent="0" marL="0">
              <a:lnSpc>
                <a:spcPts val="5550"/>
              </a:lnSpc>
              <a:buNone/>
            </a:pPr>
            <a:r>
              <a:rPr lang="en-US" sz="4450" b="1" dirty="0">
                <a:solidFill>
                  <a:srgbClr val="FFF8F5"/>
                </a:solidFill>
                <a:latin typeface="Noto Serif HK Bold" pitchFamily="34" charset="0"/>
                <a:ea typeface="Noto Serif HK Bold" pitchFamily="34" charset="-122"/>
                <a:cs typeface="Noto Serif HK Bold" pitchFamily="34" charset="-120"/>
              </a:rPr>
              <a:t>Customer Segmentation</a:t>
            </a:r>
            <a:endParaRPr lang="en-US" sz="4450" dirty="0"/>
          </a:p>
        </p:txBody>
      </p:sp>
      <p:sp>
        <p:nvSpPr>
          <p:cNvPr id="3" name="Text 1"/>
          <p:cNvSpPr/>
          <p:nvPr/>
        </p:nvSpPr>
        <p:spPr>
          <a:xfrm>
            <a:off x="793790" y="179546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Customers are segmented into three groups based on their purchase history.</a:t>
            </a:r>
            <a:endParaRPr lang="en-US" sz="1750" dirty="0"/>
          </a:p>
        </p:txBody>
      </p:sp>
      <p:sp>
        <p:nvSpPr>
          <p:cNvPr id="4" name="Text 2"/>
          <p:cNvSpPr/>
          <p:nvPr/>
        </p:nvSpPr>
        <p:spPr>
          <a:xfrm>
            <a:off x="1743789" y="4269343"/>
            <a:ext cx="2835235" cy="354330"/>
          </a:xfrm>
          <a:prstGeom prst="rect">
            <a:avLst/>
          </a:prstGeom>
          <a:noFill/>
          <a:ln/>
        </p:spPr>
        <p:txBody>
          <a:bodyPr wrap="none" lIns="0" tIns="0" rIns="0" bIns="0" rtlCol="0" anchor="t"/>
          <a:lstStyle/>
          <a:p>
            <a:pPr algn="r"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Loyal</a:t>
            </a:r>
            <a:endParaRPr lang="en-US" sz="2200" dirty="0"/>
          </a:p>
        </p:txBody>
      </p:sp>
      <p:sp>
        <p:nvSpPr>
          <p:cNvPr id="5" name="Text 3"/>
          <p:cNvSpPr/>
          <p:nvPr/>
        </p:nvSpPr>
        <p:spPr>
          <a:xfrm>
            <a:off x="793790" y="4759762"/>
            <a:ext cx="3785235" cy="362903"/>
          </a:xfrm>
          <a:prstGeom prst="rect">
            <a:avLst/>
          </a:prstGeom>
          <a:noFill/>
          <a:ln/>
        </p:spPr>
        <p:txBody>
          <a:bodyPr wrap="none" lIns="0" tIns="0" rIns="0" bIns="0" rtlCol="0" anchor="t"/>
          <a:lstStyle/>
          <a:p>
            <a:pPr algn="r"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3116 Customers</a:t>
            </a:r>
            <a:endParaRPr lang="en-US" sz="1750" dirty="0"/>
          </a:p>
        </p:txBody>
      </p:sp>
      <p:pic>
        <p:nvPicPr>
          <p:cNvPr id="6" name="Image 0" descr="preencoded.png">    </p:cNvPr>
          <p:cNvPicPr>
            <a:picLocks noChangeAspect="1"/>
          </p:cNvPicPr>
          <p:nvPr/>
        </p:nvPicPr>
        <p:blipFill>
          <a:blip r:embed="rId1"/>
          <a:stretch>
            <a:fillRect/>
          </a:stretch>
        </p:blipFill>
        <p:spPr>
          <a:xfrm>
            <a:off x="5032653" y="2413516"/>
            <a:ext cx="4564975" cy="4564975"/>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47717" y="4526161"/>
            <a:ext cx="339328" cy="339328"/>
          </a:xfrm>
          <a:prstGeom prst="rect">
            <a:avLst/>
          </a:prstGeom>
        </p:spPr>
      </p:pic>
      <p:sp>
        <p:nvSpPr>
          <p:cNvPr id="8" name="Text 4"/>
          <p:cNvSpPr/>
          <p:nvPr/>
        </p:nvSpPr>
        <p:spPr>
          <a:xfrm>
            <a:off x="9937790" y="304299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Returning</a:t>
            </a:r>
            <a:endParaRPr lang="en-US" sz="2200" dirty="0"/>
          </a:p>
        </p:txBody>
      </p:sp>
      <p:sp>
        <p:nvSpPr>
          <p:cNvPr id="9" name="Text 5"/>
          <p:cNvSpPr/>
          <p:nvPr/>
        </p:nvSpPr>
        <p:spPr>
          <a:xfrm>
            <a:off x="9937790" y="3533418"/>
            <a:ext cx="3898821"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701 Customers</a:t>
            </a:r>
            <a:endParaRPr lang="en-US" sz="1750" dirty="0"/>
          </a:p>
        </p:txBody>
      </p:sp>
      <p:pic>
        <p:nvPicPr>
          <p:cNvPr id="10" name="Image 2" descr="preencoded.png">    </p:cNvPr>
          <p:cNvPicPr>
            <a:picLocks noChangeAspect="1"/>
          </p:cNvPicPr>
          <p:nvPr/>
        </p:nvPicPr>
        <p:blipFill>
          <a:blip r:embed="rId4"/>
          <a:stretch>
            <a:fillRect/>
          </a:stretch>
        </p:blipFill>
        <p:spPr>
          <a:xfrm>
            <a:off x="5032653" y="2413516"/>
            <a:ext cx="4564975" cy="4564975"/>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44326" y="3142536"/>
            <a:ext cx="339328" cy="339328"/>
          </a:xfrm>
          <a:prstGeom prst="rect">
            <a:avLst/>
          </a:prstGeom>
        </p:spPr>
      </p:pic>
      <p:sp>
        <p:nvSpPr>
          <p:cNvPr id="12" name="Text 6"/>
          <p:cNvSpPr/>
          <p:nvPr/>
        </p:nvSpPr>
        <p:spPr>
          <a:xfrm>
            <a:off x="9937790" y="549556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3C9C5"/>
                </a:solidFill>
                <a:latin typeface="Noto Serif HK Bold" pitchFamily="34" charset="0"/>
                <a:ea typeface="Noto Serif HK Bold" pitchFamily="34" charset="-122"/>
                <a:cs typeface="Noto Serif HK Bold" pitchFamily="34" charset="-120"/>
              </a:rPr>
              <a:t>New</a:t>
            </a:r>
            <a:endParaRPr lang="en-US" sz="2200" dirty="0"/>
          </a:p>
        </p:txBody>
      </p:sp>
      <p:sp>
        <p:nvSpPr>
          <p:cNvPr id="13" name="Text 7"/>
          <p:cNvSpPr/>
          <p:nvPr/>
        </p:nvSpPr>
        <p:spPr>
          <a:xfrm>
            <a:off x="9937790" y="5985986"/>
            <a:ext cx="3898821"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83 Customers</a:t>
            </a:r>
            <a:endParaRPr lang="en-US" sz="1750" dirty="0"/>
          </a:p>
        </p:txBody>
      </p:sp>
      <p:pic>
        <p:nvPicPr>
          <p:cNvPr id="14" name="Image 4" descr="preencoded.png">    </p:cNvPr>
          <p:cNvPicPr>
            <a:picLocks noChangeAspect="1"/>
          </p:cNvPicPr>
          <p:nvPr/>
        </p:nvPicPr>
        <p:blipFill>
          <a:blip r:embed="rId7"/>
          <a:stretch>
            <a:fillRect/>
          </a:stretch>
        </p:blipFill>
        <p:spPr>
          <a:xfrm>
            <a:off x="5032653" y="2413516"/>
            <a:ext cx="4564975" cy="4564975"/>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44326" y="5909786"/>
            <a:ext cx="339328" cy="339328"/>
          </a:xfrm>
          <a:prstGeom prst="rect">
            <a:avLst/>
          </a:prstGeom>
        </p:spPr>
      </p:pic>
      <p:sp>
        <p:nvSpPr>
          <p:cNvPr id="16" name="Text 8"/>
          <p:cNvSpPr/>
          <p:nvPr/>
        </p:nvSpPr>
        <p:spPr>
          <a:xfrm>
            <a:off x="793790" y="723364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This segmentation helps in tailoring marketing strategies for each group.</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916311"/>
            <a:ext cx="7666077" cy="708779"/>
          </a:xfrm>
          <a:prstGeom prst="rect">
            <a:avLst/>
          </a:prstGeom>
          <a:noFill/>
          <a:ln/>
        </p:spPr>
        <p:txBody>
          <a:bodyPr wrap="none" lIns="0" tIns="0" rIns="0" bIns="0" rtlCol="0" anchor="t"/>
          <a:lstStyle/>
          <a:p>
            <a:pPr algn="l" indent="0" marL="0">
              <a:lnSpc>
                <a:spcPts val="5550"/>
              </a:lnSpc>
              <a:buNone/>
            </a:pPr>
            <a:r>
              <a:rPr lang="en-US" sz="4450" b="1" dirty="0">
                <a:solidFill>
                  <a:srgbClr val="FFF8F5"/>
                </a:solidFill>
                <a:latin typeface="Noto Serif HK Bold" pitchFamily="34" charset="0"/>
                <a:ea typeface="Noto Serif HK Bold" pitchFamily="34" charset="-122"/>
                <a:cs typeface="Noto Serif HK Bold" pitchFamily="34" charset="-120"/>
              </a:rPr>
              <a:t>Top Products per Category</a:t>
            </a:r>
            <a:endParaRPr lang="en-US" sz="4450" dirty="0"/>
          </a:p>
        </p:txBody>
      </p:sp>
      <p:sp>
        <p:nvSpPr>
          <p:cNvPr id="3" name="Shape 1"/>
          <p:cNvSpPr/>
          <p:nvPr/>
        </p:nvSpPr>
        <p:spPr>
          <a:xfrm>
            <a:off x="793790" y="3078718"/>
            <a:ext cx="13042821" cy="2616518"/>
          </a:xfrm>
          <a:prstGeom prst="roundRect">
            <a:avLst>
              <a:gd name="adj" fmla="val 1300"/>
            </a:avLst>
          </a:prstGeom>
          <a:noFill/>
          <a:ln w="7620">
            <a:solidFill>
              <a:srgbClr val="FFFFFF">
                <a:alpha val="24000"/>
              </a:srgbClr>
            </a:solidFill>
            <a:prstDash val="solid"/>
          </a:ln>
        </p:spPr>
      </p:sp>
      <p:sp>
        <p:nvSpPr>
          <p:cNvPr id="4" name="Shape 2"/>
          <p:cNvSpPr/>
          <p:nvPr/>
        </p:nvSpPr>
        <p:spPr>
          <a:xfrm>
            <a:off x="801410" y="3086338"/>
            <a:ext cx="13027581" cy="650319"/>
          </a:xfrm>
          <a:prstGeom prst="rect">
            <a:avLst/>
          </a:prstGeom>
          <a:solidFill>
            <a:srgbClr val="FFFFFF">
              <a:alpha val="4000"/>
            </a:srgbClr>
          </a:solidFill>
          <a:ln/>
        </p:spPr>
      </p:sp>
      <p:sp>
        <p:nvSpPr>
          <p:cNvPr id="5" name="Text 3"/>
          <p:cNvSpPr/>
          <p:nvPr/>
        </p:nvSpPr>
        <p:spPr>
          <a:xfrm>
            <a:off x="1028462" y="3230047"/>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1</a:t>
            </a:r>
            <a:endParaRPr lang="en-US" sz="1750" dirty="0"/>
          </a:p>
        </p:txBody>
      </p:sp>
      <p:sp>
        <p:nvSpPr>
          <p:cNvPr id="6" name="Text 4"/>
          <p:cNvSpPr/>
          <p:nvPr/>
        </p:nvSpPr>
        <p:spPr>
          <a:xfrm>
            <a:off x="2334935" y="3230047"/>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Accessories</a:t>
            </a:r>
            <a:endParaRPr lang="en-US" sz="1750" dirty="0"/>
          </a:p>
        </p:txBody>
      </p:sp>
      <p:sp>
        <p:nvSpPr>
          <p:cNvPr id="7" name="Text 5"/>
          <p:cNvSpPr/>
          <p:nvPr/>
        </p:nvSpPr>
        <p:spPr>
          <a:xfrm>
            <a:off x="6243161" y="3230047"/>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Jewelry</a:t>
            </a:r>
            <a:endParaRPr lang="en-US" sz="1750" dirty="0"/>
          </a:p>
        </p:txBody>
      </p:sp>
      <p:sp>
        <p:nvSpPr>
          <p:cNvPr id="8" name="Text 6"/>
          <p:cNvSpPr/>
          <p:nvPr/>
        </p:nvSpPr>
        <p:spPr>
          <a:xfrm>
            <a:off x="10151388" y="3230047"/>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171</a:t>
            </a:r>
            <a:endParaRPr lang="en-US" sz="1750" dirty="0"/>
          </a:p>
        </p:txBody>
      </p:sp>
      <p:sp>
        <p:nvSpPr>
          <p:cNvPr id="9" name="Shape 7"/>
          <p:cNvSpPr/>
          <p:nvPr/>
        </p:nvSpPr>
        <p:spPr>
          <a:xfrm>
            <a:off x="801410" y="3736658"/>
            <a:ext cx="13027581" cy="650319"/>
          </a:xfrm>
          <a:prstGeom prst="rect">
            <a:avLst/>
          </a:prstGeom>
          <a:solidFill>
            <a:srgbClr val="000000">
              <a:alpha val="4000"/>
            </a:srgbClr>
          </a:solidFill>
          <a:ln/>
        </p:spPr>
      </p:sp>
      <p:sp>
        <p:nvSpPr>
          <p:cNvPr id="10" name="Text 8"/>
          <p:cNvSpPr/>
          <p:nvPr/>
        </p:nvSpPr>
        <p:spPr>
          <a:xfrm>
            <a:off x="1028462" y="3880366"/>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1</a:t>
            </a:r>
            <a:endParaRPr lang="en-US" sz="1750" dirty="0"/>
          </a:p>
        </p:txBody>
      </p:sp>
      <p:sp>
        <p:nvSpPr>
          <p:cNvPr id="11" name="Text 9"/>
          <p:cNvSpPr/>
          <p:nvPr/>
        </p:nvSpPr>
        <p:spPr>
          <a:xfrm>
            <a:off x="2334935" y="3880366"/>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Clothing</a:t>
            </a:r>
            <a:endParaRPr lang="en-US" sz="1750" dirty="0"/>
          </a:p>
        </p:txBody>
      </p:sp>
      <p:sp>
        <p:nvSpPr>
          <p:cNvPr id="12" name="Text 10"/>
          <p:cNvSpPr/>
          <p:nvPr/>
        </p:nvSpPr>
        <p:spPr>
          <a:xfrm>
            <a:off x="6243161" y="3880366"/>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Blouse</a:t>
            </a:r>
            <a:endParaRPr lang="en-US" sz="1750" dirty="0"/>
          </a:p>
        </p:txBody>
      </p:sp>
      <p:sp>
        <p:nvSpPr>
          <p:cNvPr id="13" name="Text 11"/>
          <p:cNvSpPr/>
          <p:nvPr/>
        </p:nvSpPr>
        <p:spPr>
          <a:xfrm>
            <a:off x="10151388" y="3880366"/>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171</a:t>
            </a:r>
            <a:endParaRPr lang="en-US" sz="1750" dirty="0"/>
          </a:p>
        </p:txBody>
      </p:sp>
      <p:sp>
        <p:nvSpPr>
          <p:cNvPr id="14" name="Shape 12"/>
          <p:cNvSpPr/>
          <p:nvPr/>
        </p:nvSpPr>
        <p:spPr>
          <a:xfrm>
            <a:off x="801410" y="4386977"/>
            <a:ext cx="13027581" cy="650319"/>
          </a:xfrm>
          <a:prstGeom prst="rect">
            <a:avLst/>
          </a:prstGeom>
          <a:solidFill>
            <a:srgbClr val="FFFFFF">
              <a:alpha val="4000"/>
            </a:srgbClr>
          </a:solidFill>
          <a:ln/>
        </p:spPr>
      </p:sp>
      <p:sp>
        <p:nvSpPr>
          <p:cNvPr id="15" name="Text 13"/>
          <p:cNvSpPr/>
          <p:nvPr/>
        </p:nvSpPr>
        <p:spPr>
          <a:xfrm>
            <a:off x="1028462" y="4530685"/>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1</a:t>
            </a:r>
            <a:endParaRPr lang="en-US" sz="1750" dirty="0"/>
          </a:p>
        </p:txBody>
      </p:sp>
      <p:sp>
        <p:nvSpPr>
          <p:cNvPr id="16" name="Text 14"/>
          <p:cNvSpPr/>
          <p:nvPr/>
        </p:nvSpPr>
        <p:spPr>
          <a:xfrm>
            <a:off x="2334935" y="4530685"/>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Footwear</a:t>
            </a:r>
            <a:endParaRPr lang="en-US" sz="1750" dirty="0"/>
          </a:p>
        </p:txBody>
      </p:sp>
      <p:sp>
        <p:nvSpPr>
          <p:cNvPr id="17" name="Text 15"/>
          <p:cNvSpPr/>
          <p:nvPr/>
        </p:nvSpPr>
        <p:spPr>
          <a:xfrm>
            <a:off x="6243161" y="4530685"/>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Sandals</a:t>
            </a:r>
            <a:endParaRPr lang="en-US" sz="1750" dirty="0"/>
          </a:p>
        </p:txBody>
      </p:sp>
      <p:sp>
        <p:nvSpPr>
          <p:cNvPr id="18" name="Text 16"/>
          <p:cNvSpPr/>
          <p:nvPr/>
        </p:nvSpPr>
        <p:spPr>
          <a:xfrm>
            <a:off x="10151388" y="4530685"/>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160</a:t>
            </a:r>
            <a:endParaRPr lang="en-US" sz="1750" dirty="0"/>
          </a:p>
        </p:txBody>
      </p:sp>
      <p:sp>
        <p:nvSpPr>
          <p:cNvPr id="19" name="Shape 17"/>
          <p:cNvSpPr/>
          <p:nvPr/>
        </p:nvSpPr>
        <p:spPr>
          <a:xfrm>
            <a:off x="801410" y="5037296"/>
            <a:ext cx="13027581" cy="650319"/>
          </a:xfrm>
          <a:prstGeom prst="rect">
            <a:avLst/>
          </a:prstGeom>
          <a:solidFill>
            <a:srgbClr val="000000">
              <a:alpha val="4000"/>
            </a:srgbClr>
          </a:solidFill>
          <a:ln/>
        </p:spPr>
      </p:sp>
      <p:sp>
        <p:nvSpPr>
          <p:cNvPr id="20" name="Text 18"/>
          <p:cNvSpPr/>
          <p:nvPr/>
        </p:nvSpPr>
        <p:spPr>
          <a:xfrm>
            <a:off x="1028462" y="5181005"/>
            <a:ext cx="845225"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1</a:t>
            </a:r>
            <a:endParaRPr lang="en-US" sz="1750" dirty="0"/>
          </a:p>
        </p:txBody>
      </p:sp>
      <p:sp>
        <p:nvSpPr>
          <p:cNvPr id="21" name="Text 19"/>
          <p:cNvSpPr/>
          <p:nvPr/>
        </p:nvSpPr>
        <p:spPr>
          <a:xfrm>
            <a:off x="2334935" y="5181005"/>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Outerwear</a:t>
            </a:r>
            <a:endParaRPr lang="en-US" sz="1750" dirty="0"/>
          </a:p>
        </p:txBody>
      </p:sp>
      <p:sp>
        <p:nvSpPr>
          <p:cNvPr id="22" name="Text 20"/>
          <p:cNvSpPr/>
          <p:nvPr/>
        </p:nvSpPr>
        <p:spPr>
          <a:xfrm>
            <a:off x="6243161" y="5181005"/>
            <a:ext cx="344697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Jacket</a:t>
            </a:r>
            <a:endParaRPr lang="en-US" sz="1750" dirty="0"/>
          </a:p>
        </p:txBody>
      </p:sp>
      <p:sp>
        <p:nvSpPr>
          <p:cNvPr id="23" name="Text 21"/>
          <p:cNvSpPr/>
          <p:nvPr/>
        </p:nvSpPr>
        <p:spPr>
          <a:xfrm>
            <a:off x="10151388" y="5181005"/>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163</a:t>
            </a:r>
            <a:endParaRPr lang="en-US" sz="1750" dirty="0"/>
          </a:p>
        </p:txBody>
      </p:sp>
      <p:sp>
        <p:nvSpPr>
          <p:cNvPr id="24" name="Text 22"/>
          <p:cNvSpPr/>
          <p:nvPr/>
        </p:nvSpPr>
        <p:spPr>
          <a:xfrm>
            <a:off x="793790" y="5950387"/>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Understanding top products within each category can inform inventory and marketing decisions.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373987"/>
            <a:ext cx="6600825" cy="708779"/>
          </a:xfrm>
          <a:prstGeom prst="rect">
            <a:avLst/>
          </a:prstGeom>
          <a:noFill/>
          <a:ln/>
        </p:spPr>
        <p:txBody>
          <a:bodyPr wrap="none" lIns="0" tIns="0" rIns="0" bIns="0" rtlCol="0" anchor="t"/>
          <a:lstStyle/>
          <a:p>
            <a:pPr algn="l" indent="0" marL="0">
              <a:lnSpc>
                <a:spcPts val="5550"/>
              </a:lnSpc>
              <a:buNone/>
            </a:pPr>
            <a:r>
              <a:rPr lang="en-US" sz="4450" b="1" dirty="0">
                <a:solidFill>
                  <a:srgbClr val="FFF8F5"/>
                </a:solidFill>
                <a:latin typeface="Noto Serif HK Bold" pitchFamily="34" charset="0"/>
                <a:ea typeface="Noto Serif HK Bold" pitchFamily="34" charset="-122"/>
                <a:cs typeface="Noto Serif HK Bold" pitchFamily="34" charset="-120"/>
              </a:rPr>
              <a:t>Dashboard in Power BI</a:t>
            </a:r>
            <a:endParaRPr lang="en-US" sz="4450" dirty="0"/>
          </a:p>
        </p:txBody>
      </p:sp>
      <p:sp>
        <p:nvSpPr>
          <p:cNvPr id="4" name="Text 1"/>
          <p:cNvSpPr/>
          <p:nvPr/>
        </p:nvSpPr>
        <p:spPr>
          <a:xfrm>
            <a:off x="6280190" y="342292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An interactive Power BI dashboard was created to visualize key insights.</a:t>
            </a:r>
            <a:endParaRPr lang="en-US" sz="1750" dirty="0"/>
          </a:p>
        </p:txBody>
      </p:sp>
      <p:sp>
        <p:nvSpPr>
          <p:cNvPr id="5" name="Text 2"/>
          <p:cNvSpPr/>
          <p:nvPr/>
        </p:nvSpPr>
        <p:spPr>
          <a:xfrm>
            <a:off x="6280190" y="4403884"/>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D3C9C5"/>
                </a:solidFill>
                <a:latin typeface="Noto Serif HK" pitchFamily="34" charset="0"/>
                <a:ea typeface="Noto Serif HK" pitchFamily="34" charset="-122"/>
                <a:cs typeface="Noto Serif HK" pitchFamily="34" charset="-120"/>
              </a:rPr>
              <a:t>The dashboard presents customer behavior metrics, subscription status, revenue by category and age group, and average purchase amounts, offering a comprehensive overview for strategic decision-making.</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38255" y="435054"/>
            <a:ext cx="5627370" cy="492681"/>
          </a:xfrm>
          <a:prstGeom prst="rect">
            <a:avLst/>
          </a:prstGeom>
          <a:noFill/>
          <a:ln/>
        </p:spPr>
        <p:txBody>
          <a:bodyPr wrap="none" lIns="0" tIns="0" rIns="0" bIns="0" rtlCol="0" anchor="t"/>
          <a:lstStyle/>
          <a:p>
            <a:pPr algn="l" indent="0" marL="0">
              <a:lnSpc>
                <a:spcPts val="3850"/>
              </a:lnSpc>
              <a:buNone/>
            </a:pPr>
            <a:r>
              <a:rPr lang="en-US" sz="3100" b="1" dirty="0">
                <a:solidFill>
                  <a:srgbClr val="FFF8F5"/>
                </a:solidFill>
                <a:latin typeface="Noto Serif HK Bold" pitchFamily="34" charset="0"/>
                <a:ea typeface="Noto Serif HK Bold" pitchFamily="34" charset="-122"/>
                <a:cs typeface="Noto Serif HK Bold" pitchFamily="34" charset="-120"/>
              </a:rPr>
              <a:t>Business Recommendations</a:t>
            </a:r>
            <a:endParaRPr lang="en-US" sz="3100" dirty="0"/>
          </a:p>
        </p:txBody>
      </p:sp>
      <p:sp>
        <p:nvSpPr>
          <p:cNvPr id="4" name="Shape 1"/>
          <p:cNvSpPr/>
          <p:nvPr/>
        </p:nvSpPr>
        <p:spPr>
          <a:xfrm>
            <a:off x="6038255" y="1164193"/>
            <a:ext cx="8040291" cy="1539359"/>
          </a:xfrm>
          <a:prstGeom prst="roundRect">
            <a:avLst>
              <a:gd name="adj" fmla="val 1537"/>
            </a:avLst>
          </a:prstGeom>
          <a:solidFill>
            <a:srgbClr val="5F5153"/>
          </a:solidFill>
          <a:ln/>
        </p:spPr>
      </p:sp>
      <p:sp>
        <p:nvSpPr>
          <p:cNvPr id="5" name="Shape 2"/>
          <p:cNvSpPr/>
          <p:nvPr/>
        </p:nvSpPr>
        <p:spPr>
          <a:xfrm>
            <a:off x="6195893" y="1321832"/>
            <a:ext cx="473035" cy="473035"/>
          </a:xfrm>
          <a:prstGeom prst="roundRect">
            <a:avLst>
              <a:gd name="adj" fmla="val 19328560"/>
            </a:avLst>
          </a:prstGeom>
          <a:solidFill>
            <a:srgbClr val="E2C2B3"/>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25910" y="1451848"/>
            <a:ext cx="212884" cy="212884"/>
          </a:xfrm>
          <a:prstGeom prst="rect">
            <a:avLst/>
          </a:prstGeom>
        </p:spPr>
      </p:pic>
      <p:sp>
        <p:nvSpPr>
          <p:cNvPr id="7" name="Text 3"/>
          <p:cNvSpPr/>
          <p:nvPr/>
        </p:nvSpPr>
        <p:spPr>
          <a:xfrm>
            <a:off x="6195893" y="1952506"/>
            <a:ext cx="2003703" cy="246459"/>
          </a:xfrm>
          <a:prstGeom prst="rect">
            <a:avLst/>
          </a:prstGeom>
          <a:noFill/>
          <a:ln/>
        </p:spPr>
        <p:txBody>
          <a:bodyPr wrap="none" lIns="0" tIns="0" rIns="0" bIns="0" rtlCol="0" anchor="t"/>
          <a:lstStyle/>
          <a:p>
            <a:pPr algn="l" indent="0" marL="0">
              <a:lnSpc>
                <a:spcPts val="1900"/>
              </a:lnSpc>
              <a:buNone/>
            </a:pPr>
            <a:r>
              <a:rPr lang="en-US" sz="1550" b="1" dirty="0">
                <a:solidFill>
                  <a:srgbClr val="D3C9C5"/>
                </a:solidFill>
                <a:latin typeface="Noto Serif HK Bold" pitchFamily="34" charset="0"/>
                <a:ea typeface="Noto Serif HK Bold" pitchFamily="34" charset="-122"/>
                <a:cs typeface="Noto Serif HK Bold" pitchFamily="34" charset="-120"/>
              </a:rPr>
              <a:t>Boost Subscriptions</a:t>
            </a:r>
            <a:endParaRPr lang="en-US" sz="1550" dirty="0"/>
          </a:p>
        </p:txBody>
      </p:sp>
      <p:sp>
        <p:nvSpPr>
          <p:cNvPr id="8" name="Text 4"/>
          <p:cNvSpPr/>
          <p:nvPr/>
        </p:nvSpPr>
        <p:spPr>
          <a:xfrm>
            <a:off x="6195893" y="2293501"/>
            <a:ext cx="7725013" cy="252413"/>
          </a:xfrm>
          <a:prstGeom prst="rect">
            <a:avLst/>
          </a:prstGeom>
          <a:noFill/>
          <a:ln/>
        </p:spPr>
        <p:txBody>
          <a:bodyPr wrap="none" lIns="0" tIns="0" rIns="0" bIns="0" rtlCol="0" anchor="t"/>
          <a:lstStyle/>
          <a:p>
            <a:pPr algn="l" indent="0" marL="0">
              <a:lnSpc>
                <a:spcPts val="1950"/>
              </a:lnSpc>
              <a:buNone/>
            </a:pPr>
            <a:r>
              <a:rPr lang="en-US" sz="1200" dirty="0">
                <a:solidFill>
                  <a:srgbClr val="D3C9C5"/>
                </a:solidFill>
                <a:latin typeface="Noto Serif HK" pitchFamily="34" charset="0"/>
                <a:ea typeface="Noto Serif HK" pitchFamily="34" charset="-122"/>
                <a:cs typeface="Noto Serif HK" pitchFamily="34" charset="-120"/>
              </a:rPr>
              <a:t>Promote exclusive benefits to increase subscriber base.</a:t>
            </a:r>
            <a:endParaRPr lang="en-US" sz="1200" dirty="0"/>
          </a:p>
        </p:txBody>
      </p:sp>
      <p:sp>
        <p:nvSpPr>
          <p:cNvPr id="9" name="Shape 5"/>
          <p:cNvSpPr/>
          <p:nvPr/>
        </p:nvSpPr>
        <p:spPr>
          <a:xfrm>
            <a:off x="6038255" y="2861191"/>
            <a:ext cx="8040291" cy="1539359"/>
          </a:xfrm>
          <a:prstGeom prst="roundRect">
            <a:avLst>
              <a:gd name="adj" fmla="val 1537"/>
            </a:avLst>
          </a:prstGeom>
          <a:solidFill>
            <a:srgbClr val="5F5153"/>
          </a:solidFill>
          <a:ln/>
        </p:spPr>
      </p:sp>
      <p:sp>
        <p:nvSpPr>
          <p:cNvPr id="10" name="Shape 6"/>
          <p:cNvSpPr/>
          <p:nvPr/>
        </p:nvSpPr>
        <p:spPr>
          <a:xfrm>
            <a:off x="6195893" y="3018830"/>
            <a:ext cx="473035" cy="473035"/>
          </a:xfrm>
          <a:prstGeom prst="roundRect">
            <a:avLst>
              <a:gd name="adj" fmla="val 19328560"/>
            </a:avLst>
          </a:prstGeom>
          <a:solidFill>
            <a:srgbClr val="E2C2B3"/>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25910" y="3148846"/>
            <a:ext cx="212884" cy="212884"/>
          </a:xfrm>
          <a:prstGeom prst="rect">
            <a:avLst/>
          </a:prstGeom>
        </p:spPr>
      </p:pic>
      <p:sp>
        <p:nvSpPr>
          <p:cNvPr id="12" name="Text 7"/>
          <p:cNvSpPr/>
          <p:nvPr/>
        </p:nvSpPr>
        <p:spPr>
          <a:xfrm>
            <a:off x="6195893" y="3649504"/>
            <a:ext cx="1971199" cy="246459"/>
          </a:xfrm>
          <a:prstGeom prst="rect">
            <a:avLst/>
          </a:prstGeom>
          <a:noFill/>
          <a:ln/>
        </p:spPr>
        <p:txBody>
          <a:bodyPr wrap="none" lIns="0" tIns="0" rIns="0" bIns="0" rtlCol="0" anchor="t"/>
          <a:lstStyle/>
          <a:p>
            <a:pPr algn="l" indent="0" marL="0">
              <a:lnSpc>
                <a:spcPts val="1900"/>
              </a:lnSpc>
              <a:buNone/>
            </a:pPr>
            <a:r>
              <a:rPr lang="en-US" sz="1550" b="1" dirty="0">
                <a:solidFill>
                  <a:srgbClr val="D3C9C5"/>
                </a:solidFill>
                <a:latin typeface="Noto Serif HK Bold" pitchFamily="34" charset="0"/>
                <a:ea typeface="Noto Serif HK Bold" pitchFamily="34" charset="-122"/>
                <a:cs typeface="Noto Serif HK Bold" pitchFamily="34" charset="-120"/>
              </a:rPr>
              <a:t>Customer Loyalty</a:t>
            </a:r>
            <a:endParaRPr lang="en-US" sz="1550" dirty="0"/>
          </a:p>
        </p:txBody>
      </p:sp>
      <p:sp>
        <p:nvSpPr>
          <p:cNvPr id="13" name="Text 8"/>
          <p:cNvSpPr/>
          <p:nvPr/>
        </p:nvSpPr>
        <p:spPr>
          <a:xfrm>
            <a:off x="6195893" y="3990499"/>
            <a:ext cx="7725013" cy="252413"/>
          </a:xfrm>
          <a:prstGeom prst="rect">
            <a:avLst/>
          </a:prstGeom>
          <a:noFill/>
          <a:ln/>
        </p:spPr>
        <p:txBody>
          <a:bodyPr wrap="none" lIns="0" tIns="0" rIns="0" bIns="0" rtlCol="0" anchor="t"/>
          <a:lstStyle/>
          <a:p>
            <a:pPr algn="l" indent="0" marL="0">
              <a:lnSpc>
                <a:spcPts val="1950"/>
              </a:lnSpc>
              <a:buNone/>
            </a:pPr>
            <a:r>
              <a:rPr lang="en-US" sz="1200" dirty="0">
                <a:solidFill>
                  <a:srgbClr val="D3C9C5"/>
                </a:solidFill>
                <a:latin typeface="Noto Serif HK" pitchFamily="34" charset="0"/>
                <a:ea typeface="Noto Serif HK" pitchFamily="34" charset="-122"/>
                <a:cs typeface="Noto Serif HK" pitchFamily="34" charset="-120"/>
              </a:rPr>
              <a:t>Reward repeat buyers to foster loyalty and move them to the "Loyal" segment.</a:t>
            </a:r>
            <a:endParaRPr lang="en-US" sz="1200" dirty="0"/>
          </a:p>
        </p:txBody>
      </p:sp>
      <p:sp>
        <p:nvSpPr>
          <p:cNvPr id="14" name="Shape 9"/>
          <p:cNvSpPr/>
          <p:nvPr/>
        </p:nvSpPr>
        <p:spPr>
          <a:xfrm>
            <a:off x="6038255" y="4558189"/>
            <a:ext cx="8040291" cy="1539359"/>
          </a:xfrm>
          <a:prstGeom prst="roundRect">
            <a:avLst>
              <a:gd name="adj" fmla="val 1537"/>
            </a:avLst>
          </a:prstGeom>
          <a:solidFill>
            <a:srgbClr val="5F5153"/>
          </a:solidFill>
          <a:ln/>
        </p:spPr>
      </p:sp>
      <p:sp>
        <p:nvSpPr>
          <p:cNvPr id="15" name="Shape 10"/>
          <p:cNvSpPr/>
          <p:nvPr/>
        </p:nvSpPr>
        <p:spPr>
          <a:xfrm>
            <a:off x="6195893" y="4715828"/>
            <a:ext cx="473035" cy="473035"/>
          </a:xfrm>
          <a:prstGeom prst="roundRect">
            <a:avLst>
              <a:gd name="adj" fmla="val 19328560"/>
            </a:avLst>
          </a:prstGeom>
          <a:solidFill>
            <a:srgbClr val="E2C2B3"/>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25910" y="4845844"/>
            <a:ext cx="212884" cy="212884"/>
          </a:xfrm>
          <a:prstGeom prst="rect">
            <a:avLst/>
          </a:prstGeom>
        </p:spPr>
      </p:pic>
      <p:sp>
        <p:nvSpPr>
          <p:cNvPr id="17" name="Text 11"/>
          <p:cNvSpPr/>
          <p:nvPr/>
        </p:nvSpPr>
        <p:spPr>
          <a:xfrm>
            <a:off x="6195893" y="5346502"/>
            <a:ext cx="2338626" cy="246459"/>
          </a:xfrm>
          <a:prstGeom prst="rect">
            <a:avLst/>
          </a:prstGeom>
          <a:noFill/>
          <a:ln/>
        </p:spPr>
        <p:txBody>
          <a:bodyPr wrap="none" lIns="0" tIns="0" rIns="0" bIns="0" rtlCol="0" anchor="t"/>
          <a:lstStyle/>
          <a:p>
            <a:pPr algn="l" indent="0" marL="0">
              <a:lnSpc>
                <a:spcPts val="1900"/>
              </a:lnSpc>
              <a:buNone/>
            </a:pPr>
            <a:r>
              <a:rPr lang="en-US" sz="1550" b="1" dirty="0">
                <a:solidFill>
                  <a:srgbClr val="D3C9C5"/>
                </a:solidFill>
                <a:latin typeface="Noto Serif HK Bold" pitchFamily="34" charset="0"/>
                <a:ea typeface="Noto Serif HK Bold" pitchFamily="34" charset="-122"/>
                <a:cs typeface="Noto Serif HK Bold" pitchFamily="34" charset="-120"/>
              </a:rPr>
              <a:t>Review Discount Policy</a:t>
            </a:r>
            <a:endParaRPr lang="en-US" sz="1550" dirty="0"/>
          </a:p>
        </p:txBody>
      </p:sp>
      <p:sp>
        <p:nvSpPr>
          <p:cNvPr id="18" name="Text 12"/>
          <p:cNvSpPr/>
          <p:nvPr/>
        </p:nvSpPr>
        <p:spPr>
          <a:xfrm>
            <a:off x="6195893" y="5687497"/>
            <a:ext cx="7725013" cy="252413"/>
          </a:xfrm>
          <a:prstGeom prst="rect">
            <a:avLst/>
          </a:prstGeom>
          <a:noFill/>
          <a:ln/>
        </p:spPr>
        <p:txBody>
          <a:bodyPr wrap="none" lIns="0" tIns="0" rIns="0" bIns="0" rtlCol="0" anchor="t"/>
          <a:lstStyle/>
          <a:p>
            <a:pPr algn="l" indent="0" marL="0">
              <a:lnSpc>
                <a:spcPts val="1950"/>
              </a:lnSpc>
              <a:buNone/>
            </a:pPr>
            <a:r>
              <a:rPr lang="en-US" sz="1200" dirty="0">
                <a:solidFill>
                  <a:srgbClr val="D3C9C5"/>
                </a:solidFill>
                <a:latin typeface="Noto Serif HK" pitchFamily="34" charset="0"/>
                <a:ea typeface="Noto Serif HK" pitchFamily="34" charset="-122"/>
                <a:cs typeface="Noto Serif HK" pitchFamily="34" charset="-120"/>
              </a:rPr>
              <a:t>Balance sales boosts with margin control for discount-dependent products.</a:t>
            </a:r>
            <a:endParaRPr lang="en-US" sz="1200" dirty="0"/>
          </a:p>
        </p:txBody>
      </p:sp>
      <p:sp>
        <p:nvSpPr>
          <p:cNvPr id="19" name="Shape 13"/>
          <p:cNvSpPr/>
          <p:nvPr/>
        </p:nvSpPr>
        <p:spPr>
          <a:xfrm>
            <a:off x="6038255" y="6255187"/>
            <a:ext cx="8040291" cy="1539359"/>
          </a:xfrm>
          <a:prstGeom prst="roundRect">
            <a:avLst>
              <a:gd name="adj" fmla="val 1537"/>
            </a:avLst>
          </a:prstGeom>
          <a:solidFill>
            <a:srgbClr val="5F5153"/>
          </a:solidFill>
          <a:ln/>
        </p:spPr>
      </p:sp>
      <p:sp>
        <p:nvSpPr>
          <p:cNvPr id="20" name="Shape 14"/>
          <p:cNvSpPr/>
          <p:nvPr/>
        </p:nvSpPr>
        <p:spPr>
          <a:xfrm>
            <a:off x="6195893" y="6412825"/>
            <a:ext cx="473035" cy="473035"/>
          </a:xfrm>
          <a:prstGeom prst="roundRect">
            <a:avLst>
              <a:gd name="adj" fmla="val 19328560"/>
            </a:avLst>
          </a:prstGeom>
          <a:solidFill>
            <a:srgbClr val="E2C2B3"/>
          </a:solidFill>
          <a:ln/>
        </p:spPr>
      </p:sp>
      <p:sp>
        <p:nvSpPr>
          <p:cNvPr id="21" name="Text 15"/>
          <p:cNvSpPr/>
          <p:nvPr/>
        </p:nvSpPr>
        <p:spPr>
          <a:xfrm>
            <a:off x="6195893" y="7043499"/>
            <a:ext cx="1971199" cy="246459"/>
          </a:xfrm>
          <a:prstGeom prst="rect">
            <a:avLst/>
          </a:prstGeom>
          <a:noFill/>
          <a:ln/>
        </p:spPr>
        <p:txBody>
          <a:bodyPr wrap="none" lIns="0" tIns="0" rIns="0" bIns="0" rtlCol="0" anchor="t"/>
          <a:lstStyle/>
          <a:p>
            <a:pPr algn="l" indent="0" marL="0">
              <a:lnSpc>
                <a:spcPts val="1900"/>
              </a:lnSpc>
              <a:buNone/>
            </a:pPr>
            <a:r>
              <a:rPr lang="en-US" sz="1550" b="1" dirty="0">
                <a:solidFill>
                  <a:srgbClr val="D3C9C5"/>
                </a:solidFill>
                <a:latin typeface="Noto Serif HK Bold" pitchFamily="34" charset="0"/>
                <a:ea typeface="Noto Serif HK Bold" pitchFamily="34" charset="-122"/>
                <a:cs typeface="Noto Serif HK Bold" pitchFamily="34" charset="-120"/>
              </a:rPr>
              <a:t>Targeted Marketing</a:t>
            </a:r>
            <a:endParaRPr lang="en-US" sz="1550" dirty="0"/>
          </a:p>
        </p:txBody>
      </p:sp>
      <p:sp>
        <p:nvSpPr>
          <p:cNvPr id="22" name="Text 16"/>
          <p:cNvSpPr/>
          <p:nvPr/>
        </p:nvSpPr>
        <p:spPr>
          <a:xfrm>
            <a:off x="6195893" y="7384494"/>
            <a:ext cx="7725013" cy="252413"/>
          </a:xfrm>
          <a:prstGeom prst="rect">
            <a:avLst/>
          </a:prstGeom>
          <a:noFill/>
          <a:ln/>
        </p:spPr>
        <p:txBody>
          <a:bodyPr wrap="none" lIns="0" tIns="0" rIns="0" bIns="0" rtlCol="0" anchor="t"/>
          <a:lstStyle/>
          <a:p>
            <a:pPr algn="l" indent="0" marL="0">
              <a:lnSpc>
                <a:spcPts val="1950"/>
              </a:lnSpc>
              <a:buNone/>
            </a:pPr>
            <a:r>
              <a:rPr lang="en-US" sz="1200" dirty="0">
                <a:solidFill>
                  <a:srgbClr val="D3C9C5"/>
                </a:solidFill>
                <a:latin typeface="Noto Serif HK" pitchFamily="34" charset="0"/>
                <a:ea typeface="Noto Serif HK" pitchFamily="34" charset="-122"/>
                <a:cs typeface="Noto Serif HK" pitchFamily="34" charset="-120"/>
              </a:rPr>
              <a:t>Focus efforts on high-revenue age groups and express-shipping users.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2025-11-15T15:19:57Z</dcterms:created>
  <dcterms:modified xsi:type="dcterms:W3CDTF">2025-11-15T15:19:57Z</dcterms:modified>
</cp:coreProperties>
</file>